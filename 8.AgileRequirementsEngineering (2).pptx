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4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E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18159" y="507491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0" y="149351"/>
                </a:moveTo>
                <a:lnTo>
                  <a:pt x="5021580" y="149351"/>
                </a:lnTo>
                <a:lnTo>
                  <a:pt x="50215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32269" y="2041728"/>
            <a:ext cx="4829175" cy="4515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E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18159" y="507491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0" y="149351"/>
                </a:moveTo>
                <a:lnTo>
                  <a:pt x="5021580" y="149351"/>
                </a:lnTo>
                <a:lnTo>
                  <a:pt x="50215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2188952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048" y="6858000"/>
                </a:lnTo>
                <a:lnTo>
                  <a:pt x="304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E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595" y="981202"/>
            <a:ext cx="5367020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8780" y="2474721"/>
            <a:ext cx="11394439" cy="4166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5235" y="228600"/>
            <a:ext cx="7636763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5340" y="976249"/>
            <a:ext cx="4453255" cy="2279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862580" algn="r">
              <a:lnSpc>
                <a:spcPct val="90000"/>
              </a:lnSpc>
            </a:pPr>
            <a:r>
              <a:rPr b="1" spc="-4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b="1" spc="-180" dirty="0">
                <a:solidFill>
                  <a:srgbClr val="FFFFFF"/>
                </a:solidFill>
                <a:latin typeface="Arial"/>
                <a:cs typeface="Arial"/>
              </a:rPr>
              <a:t>gi</a:t>
            </a:r>
            <a:r>
              <a:rPr b="1" spc="-8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e  </a:t>
            </a:r>
            <a:r>
              <a:rPr b="1" spc="-185" dirty="0">
                <a:solidFill>
                  <a:srgbClr val="FFFFFF"/>
                </a:solidFill>
                <a:latin typeface="Arial"/>
                <a:cs typeface="Arial"/>
              </a:rPr>
              <a:t>Requ</a:t>
            </a:r>
            <a:r>
              <a:rPr b="1" spc="-7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b="1" spc="-1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b="1" spc="-40" dirty="0">
                <a:solidFill>
                  <a:srgbClr val="FFFFFF"/>
                </a:solidFill>
                <a:latin typeface="Arial"/>
                <a:cs typeface="Arial"/>
              </a:rPr>
              <a:t>ements  </a:t>
            </a:r>
            <a:r>
              <a:rPr b="1" spc="-210" dirty="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33692" y="4511802"/>
            <a:ext cx="4682490" cy="701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Embracing </a:t>
            </a:r>
            <a:r>
              <a:rPr sz="2200" spc="15" dirty="0">
                <a:solidFill>
                  <a:srgbClr val="FFFFFF"/>
                </a:solidFill>
                <a:latin typeface="Tahoma"/>
                <a:cs typeface="Tahoma"/>
              </a:rPr>
              <a:t>Collaboration,</a:t>
            </a:r>
            <a:r>
              <a:rPr sz="2200" spc="-43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Adaptability,</a:t>
            </a:r>
            <a:endParaRPr sz="2200">
              <a:latin typeface="Tahoma"/>
              <a:cs typeface="Tahoma"/>
            </a:endParaRPr>
          </a:p>
          <a:p>
            <a:pPr marL="1443355">
              <a:lnSpc>
                <a:spcPct val="100000"/>
              </a:lnSpc>
            </a:pP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2200" spc="20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2200" spc="-4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10" dirty="0">
                <a:solidFill>
                  <a:srgbClr val="FFFFFF"/>
                </a:solidFill>
                <a:latin typeface="Tahoma"/>
                <a:cs typeface="Tahoma"/>
              </a:rPr>
              <a:t>Satisfaction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52259" y="507491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0" y="149351"/>
                </a:moveTo>
                <a:lnTo>
                  <a:pt x="5021580" y="149351"/>
                </a:lnTo>
                <a:lnTo>
                  <a:pt x="50215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013702"/>
            <a:ext cx="1249679" cy="8442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981202"/>
            <a:ext cx="4826635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175" dirty="0">
                <a:latin typeface="Arial"/>
                <a:cs typeface="Arial"/>
              </a:rPr>
              <a:t>Revisiting</a:t>
            </a:r>
            <a:r>
              <a:rPr b="1" spc="-200" dirty="0">
                <a:latin typeface="Arial"/>
                <a:cs typeface="Arial"/>
              </a:rPr>
              <a:t> </a:t>
            </a:r>
            <a:r>
              <a:rPr b="1" spc="-180" dirty="0">
                <a:latin typeface="Arial"/>
                <a:cs typeface="Arial"/>
              </a:rPr>
              <a:t>Agile</a:t>
            </a:r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8159" y="2011679"/>
            <a:ext cx="6257544" cy="4177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80121" y="1009269"/>
            <a:ext cx="162941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Definition </a:t>
            </a:r>
            <a:r>
              <a:rPr sz="1600" spc="10" dirty="0">
                <a:latin typeface="Arial"/>
                <a:cs typeface="Arial"/>
              </a:rPr>
              <a:t>of</a:t>
            </a:r>
            <a:r>
              <a:rPr sz="1600" spc="-229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Agile: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0121" y="1317497"/>
            <a:ext cx="4129404" cy="106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165735" indent="-274320">
              <a:lnSpc>
                <a:spcPct val="100000"/>
              </a:lnSpc>
              <a:buChar char="•"/>
              <a:tabLst>
                <a:tab pos="286385" algn="l"/>
                <a:tab pos="287020" algn="l"/>
              </a:tabLst>
            </a:pPr>
            <a:r>
              <a:rPr sz="1600" spc="-20" dirty="0">
                <a:latin typeface="Arial"/>
                <a:cs typeface="Arial"/>
              </a:rPr>
              <a:t>Iterative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flexible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approach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20" dirty="0">
                <a:latin typeface="Arial"/>
                <a:cs typeface="Arial"/>
              </a:rPr>
              <a:t>to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software  development</a:t>
            </a:r>
            <a:endParaRPr sz="1600">
              <a:latin typeface="Arial"/>
              <a:cs typeface="Arial"/>
            </a:endParaRPr>
          </a:p>
          <a:p>
            <a:pPr marL="287020" marR="5080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45" dirty="0">
                <a:latin typeface="Arial"/>
                <a:cs typeface="Arial"/>
              </a:rPr>
              <a:t>Emphasizes </a:t>
            </a:r>
            <a:r>
              <a:rPr sz="1600" spc="5" dirty="0">
                <a:latin typeface="Arial"/>
                <a:cs typeface="Arial"/>
              </a:rPr>
              <a:t>collaboration, </a:t>
            </a:r>
            <a:r>
              <a:rPr sz="1600" spc="-5" dirty="0">
                <a:latin typeface="Arial"/>
                <a:cs typeface="Arial"/>
              </a:rPr>
              <a:t>adaptability,</a:t>
            </a:r>
            <a:r>
              <a:rPr sz="1600" spc="-254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  </a:t>
            </a:r>
            <a:r>
              <a:rPr sz="1600" dirty="0">
                <a:latin typeface="Arial"/>
                <a:cs typeface="Arial"/>
              </a:rPr>
              <a:t>customer</a:t>
            </a:r>
            <a:r>
              <a:rPr sz="1600" spc="-1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satisfaction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0121" y="2483358"/>
            <a:ext cx="4029710" cy="4074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10" dirty="0">
                <a:latin typeface="Arial"/>
                <a:cs typeface="Arial"/>
              </a:rPr>
              <a:t>Key </a:t>
            </a:r>
            <a:r>
              <a:rPr sz="1600" spc="5" dirty="0">
                <a:latin typeface="Arial"/>
                <a:cs typeface="Arial"/>
              </a:rPr>
              <a:t>principles </a:t>
            </a:r>
            <a:r>
              <a:rPr sz="1600" spc="10" dirty="0">
                <a:latin typeface="Arial"/>
                <a:cs typeface="Arial"/>
              </a:rPr>
              <a:t>of</a:t>
            </a:r>
            <a:r>
              <a:rPr sz="1600" spc="-22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Agile:</a:t>
            </a:r>
            <a:endParaRPr sz="1600">
              <a:latin typeface="Arial"/>
              <a:cs typeface="Arial"/>
            </a:endParaRPr>
          </a:p>
          <a:p>
            <a:pPr marL="287020" marR="1270635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10" dirty="0">
                <a:latin typeface="Arial"/>
                <a:cs typeface="Arial"/>
              </a:rPr>
              <a:t>Customer </a:t>
            </a:r>
            <a:r>
              <a:rPr sz="1600" spc="5" dirty="0">
                <a:latin typeface="Arial"/>
                <a:cs typeface="Arial"/>
              </a:rPr>
              <a:t>collaboration</a:t>
            </a:r>
            <a:r>
              <a:rPr sz="1600" spc="-24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  </a:t>
            </a:r>
            <a:r>
              <a:rPr sz="1600" spc="-30" dirty="0">
                <a:latin typeface="Arial"/>
                <a:cs typeface="Arial"/>
              </a:rPr>
              <a:t>responsiveness </a:t>
            </a:r>
            <a:r>
              <a:rPr sz="1600" spc="20" dirty="0">
                <a:latin typeface="Arial"/>
                <a:cs typeface="Arial"/>
              </a:rPr>
              <a:t>to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change</a:t>
            </a:r>
            <a:endParaRPr sz="1600">
              <a:latin typeface="Arial"/>
              <a:cs typeface="Arial"/>
            </a:endParaRPr>
          </a:p>
          <a:p>
            <a:pPr marL="287020" marR="5080" indent="-274320">
              <a:lnSpc>
                <a:spcPct val="100000"/>
              </a:lnSpc>
              <a:spcBef>
                <a:spcPts val="50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30" dirty="0">
                <a:latin typeface="Arial"/>
                <a:cs typeface="Arial"/>
              </a:rPr>
              <a:t>Delivering </a:t>
            </a:r>
            <a:r>
              <a:rPr sz="1600" spc="-25" dirty="0">
                <a:latin typeface="Arial"/>
                <a:cs typeface="Arial"/>
              </a:rPr>
              <a:t>working </a:t>
            </a:r>
            <a:r>
              <a:rPr sz="1600" spc="-10" dirty="0">
                <a:latin typeface="Arial"/>
                <a:cs typeface="Arial"/>
              </a:rPr>
              <a:t>software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3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promoting  </a:t>
            </a:r>
            <a:r>
              <a:rPr sz="1600" spc="-25" dirty="0">
                <a:latin typeface="Arial"/>
                <a:cs typeface="Arial"/>
              </a:rPr>
              <a:t>self-organizing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teams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45" dirty="0">
                <a:latin typeface="Arial"/>
                <a:cs typeface="Arial"/>
              </a:rPr>
              <a:t>Valuing </a:t>
            </a:r>
            <a:r>
              <a:rPr sz="1600" spc="-5" dirty="0">
                <a:latin typeface="Arial"/>
                <a:cs typeface="Arial"/>
              </a:rPr>
              <a:t>individuals, </a:t>
            </a:r>
            <a:r>
              <a:rPr sz="1600" dirty="0">
                <a:latin typeface="Arial"/>
                <a:cs typeface="Arial"/>
              </a:rPr>
              <a:t>interactions,</a:t>
            </a:r>
            <a:r>
              <a:rPr sz="1600" spc="-204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continuous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improvement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20" dirty="0">
                <a:latin typeface="Arial"/>
                <a:cs typeface="Arial"/>
              </a:rPr>
              <a:t>Benefits </a:t>
            </a:r>
            <a:r>
              <a:rPr sz="1600" spc="5" dirty="0">
                <a:latin typeface="Arial"/>
                <a:cs typeface="Arial"/>
              </a:rPr>
              <a:t>of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Agile: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25" dirty="0">
                <a:latin typeface="Arial"/>
                <a:cs typeface="Arial"/>
              </a:rPr>
              <a:t>Improved </a:t>
            </a:r>
            <a:r>
              <a:rPr sz="1600" dirty="0">
                <a:latin typeface="Arial"/>
                <a:cs typeface="Arial"/>
              </a:rPr>
              <a:t>customer</a:t>
            </a:r>
            <a:r>
              <a:rPr sz="1600" spc="-1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satisfaction</a:t>
            </a:r>
            <a:endParaRPr sz="1600">
              <a:latin typeface="Arial"/>
              <a:cs typeface="Arial"/>
            </a:endParaRPr>
          </a:p>
          <a:p>
            <a:pPr marL="287020" marR="724535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25" dirty="0">
                <a:latin typeface="Arial"/>
                <a:cs typeface="Arial"/>
              </a:rPr>
              <a:t>Increased </a:t>
            </a:r>
            <a:r>
              <a:rPr sz="1600" dirty="0">
                <a:latin typeface="Arial"/>
                <a:cs typeface="Arial"/>
              </a:rPr>
              <a:t>adaptability </a:t>
            </a:r>
            <a:r>
              <a:rPr sz="1600" spc="20" dirty="0">
                <a:latin typeface="Arial"/>
                <a:cs typeface="Arial"/>
              </a:rPr>
              <a:t>to</a:t>
            </a:r>
            <a:r>
              <a:rPr sz="1600" spc="-26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changing  </a:t>
            </a:r>
            <a:r>
              <a:rPr sz="1600" spc="-10" dirty="0"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45" dirty="0">
                <a:latin typeface="Arial"/>
                <a:cs typeface="Arial"/>
              </a:rPr>
              <a:t>Faster</a:t>
            </a:r>
            <a:r>
              <a:rPr sz="1600" spc="-175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time-to-market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35" dirty="0">
                <a:latin typeface="Arial"/>
                <a:cs typeface="Arial"/>
              </a:rPr>
              <a:t>Enhanced </a:t>
            </a:r>
            <a:r>
              <a:rPr sz="1600" spc="-10" dirty="0">
                <a:latin typeface="Arial"/>
                <a:cs typeface="Arial"/>
              </a:rPr>
              <a:t>teamwork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29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collaboration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30" dirty="0">
                <a:latin typeface="Arial"/>
                <a:cs typeface="Arial"/>
              </a:rPr>
              <a:t>Higher </a:t>
            </a:r>
            <a:r>
              <a:rPr sz="1600" spc="10" dirty="0">
                <a:latin typeface="Arial"/>
                <a:cs typeface="Arial"/>
              </a:rPr>
              <a:t>product</a:t>
            </a:r>
            <a:r>
              <a:rPr sz="1600" spc="-21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quality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91571" y="0"/>
            <a:ext cx="1245107" cy="798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D7D4DE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595" y="998474"/>
            <a:ext cx="4970780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540"/>
              </a:lnSpc>
            </a:pPr>
            <a:r>
              <a:rPr sz="4200" spc="-15" dirty="0"/>
              <a:t>Agile </a:t>
            </a:r>
            <a:r>
              <a:rPr sz="4200" dirty="0"/>
              <a:t>Requirements  </a:t>
            </a:r>
            <a:r>
              <a:rPr sz="4200" spc="-65" dirty="0"/>
              <a:t>Engineering</a:t>
            </a:r>
            <a:r>
              <a:rPr sz="4200" spc="-470" dirty="0"/>
              <a:t> </a:t>
            </a:r>
            <a:r>
              <a:rPr sz="4200" spc="-50" dirty="0"/>
              <a:t>Overview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8159" y="3102864"/>
            <a:ext cx="6143244" cy="3125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59573" y="1006728"/>
            <a:ext cx="4198620" cy="30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5" dirty="0">
                <a:latin typeface="Arial"/>
                <a:cs typeface="Arial"/>
              </a:rPr>
              <a:t>Definition </a:t>
            </a:r>
            <a:r>
              <a:rPr sz="1800" b="1" spc="-30" dirty="0">
                <a:latin typeface="Arial"/>
                <a:cs typeface="Arial"/>
              </a:rPr>
              <a:t>of </a:t>
            </a:r>
            <a:r>
              <a:rPr sz="1800" b="1" spc="-40" dirty="0">
                <a:latin typeface="Arial"/>
                <a:cs typeface="Arial"/>
              </a:rPr>
              <a:t>Requirements</a:t>
            </a:r>
            <a:r>
              <a:rPr sz="1800" b="1" spc="-15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Engineering: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59573" y="1345438"/>
            <a:ext cx="4453255" cy="850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buChar char="•"/>
              <a:tabLst>
                <a:tab pos="287020" algn="l"/>
                <a:tab pos="287655" algn="l"/>
              </a:tabLst>
            </a:pPr>
            <a:r>
              <a:rPr sz="1800" spc="-40" dirty="0">
                <a:latin typeface="Arial"/>
                <a:cs typeface="Arial"/>
              </a:rPr>
              <a:t>Process </a:t>
            </a:r>
            <a:r>
              <a:rPr sz="1800" spc="15" dirty="0">
                <a:latin typeface="Arial"/>
                <a:cs typeface="Arial"/>
              </a:rPr>
              <a:t>of </a:t>
            </a:r>
            <a:r>
              <a:rPr sz="1800" spc="10" dirty="0">
                <a:latin typeface="Arial"/>
                <a:cs typeface="Arial"/>
              </a:rPr>
              <a:t>eliciting, </a:t>
            </a:r>
            <a:r>
              <a:rPr sz="1800" dirty="0">
                <a:latin typeface="Arial"/>
                <a:cs typeface="Arial"/>
              </a:rPr>
              <a:t>documenting,  </a:t>
            </a:r>
            <a:r>
              <a:rPr sz="1800" spc="-10" dirty="0">
                <a:latin typeface="Arial"/>
                <a:cs typeface="Arial"/>
              </a:rPr>
              <a:t>validating,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and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managing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requirements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for  </a:t>
            </a:r>
            <a:r>
              <a:rPr sz="1800" spc="-45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software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project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9573" y="2294890"/>
            <a:ext cx="4473575" cy="437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40" dirty="0">
                <a:latin typeface="Arial"/>
                <a:cs typeface="Arial"/>
              </a:rPr>
              <a:t>Challenges </a:t>
            </a:r>
            <a:r>
              <a:rPr sz="1800" b="1" spc="-35" dirty="0">
                <a:latin typeface="Arial"/>
                <a:cs typeface="Arial"/>
              </a:rPr>
              <a:t>in </a:t>
            </a:r>
            <a:r>
              <a:rPr sz="1800" b="1" spc="-15" dirty="0">
                <a:latin typeface="Arial"/>
                <a:cs typeface="Arial"/>
              </a:rPr>
              <a:t>traditional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30" dirty="0">
                <a:latin typeface="Arial"/>
                <a:cs typeface="Arial"/>
              </a:rPr>
              <a:t>requirements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latin typeface="Arial"/>
                <a:cs typeface="Arial"/>
              </a:rPr>
              <a:t>gathering:</a:t>
            </a:r>
            <a:endParaRPr sz="18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dirty="0">
                <a:latin typeface="Arial"/>
                <a:cs typeface="Arial"/>
              </a:rPr>
              <a:t>Incomplete </a:t>
            </a:r>
            <a:r>
              <a:rPr sz="1800" spc="-5" dirty="0">
                <a:latin typeface="Arial"/>
                <a:cs typeface="Arial"/>
              </a:rPr>
              <a:t>or </a:t>
            </a:r>
            <a:r>
              <a:rPr sz="1800" spc="-35" dirty="0">
                <a:latin typeface="Arial"/>
                <a:cs typeface="Arial"/>
              </a:rPr>
              <a:t>changing</a:t>
            </a:r>
            <a:r>
              <a:rPr sz="1800" spc="-3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requirements</a:t>
            </a:r>
            <a:endParaRPr sz="1800" dirty="0">
              <a:latin typeface="Arial"/>
              <a:cs typeface="Arial"/>
            </a:endParaRPr>
          </a:p>
          <a:p>
            <a:pPr marL="287020" marR="929005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spc="15" dirty="0">
                <a:latin typeface="Arial"/>
                <a:cs typeface="Arial"/>
              </a:rPr>
              <a:t>Difficulty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in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capturing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user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needs  </a:t>
            </a:r>
            <a:r>
              <a:rPr sz="1800" spc="-15" dirty="0">
                <a:latin typeface="Arial"/>
                <a:cs typeface="Arial"/>
              </a:rPr>
              <a:t>effectively</a:t>
            </a:r>
            <a:endParaRPr sz="18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dirty="0">
                <a:latin typeface="Arial"/>
                <a:cs typeface="Arial"/>
              </a:rPr>
              <a:t>Limited </a:t>
            </a:r>
            <a:r>
              <a:rPr sz="1800" spc="5" dirty="0">
                <a:latin typeface="Arial"/>
                <a:cs typeface="Arial"/>
              </a:rPr>
              <a:t>collaboration </a:t>
            </a:r>
            <a:r>
              <a:rPr sz="1800" spc="-15" dirty="0">
                <a:latin typeface="Arial"/>
                <a:cs typeface="Arial"/>
              </a:rPr>
              <a:t>and</a:t>
            </a:r>
            <a:r>
              <a:rPr sz="1800" spc="-3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feedback</a:t>
            </a:r>
            <a:endParaRPr sz="1800" dirty="0">
              <a:latin typeface="Arial"/>
              <a:cs typeface="Arial"/>
            </a:endParaRPr>
          </a:p>
          <a:p>
            <a:pPr marL="287020">
              <a:lnSpc>
                <a:spcPct val="100000"/>
              </a:lnSpc>
            </a:pPr>
            <a:r>
              <a:rPr sz="1800" spc="10" dirty="0">
                <a:latin typeface="Arial"/>
                <a:cs typeface="Arial"/>
              </a:rPr>
              <a:t>opportunities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spc="-70" dirty="0">
                <a:latin typeface="Arial"/>
                <a:cs typeface="Arial"/>
              </a:rPr>
              <a:t>Agile </a:t>
            </a:r>
            <a:r>
              <a:rPr sz="1800" b="1" spc="-40" dirty="0">
                <a:latin typeface="Arial"/>
                <a:cs typeface="Arial"/>
              </a:rPr>
              <a:t>Requirements </a:t>
            </a:r>
            <a:r>
              <a:rPr sz="1800" b="1" spc="-75" dirty="0">
                <a:latin typeface="Arial"/>
                <a:cs typeface="Arial"/>
              </a:rPr>
              <a:t>Engineering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approach:</a:t>
            </a:r>
            <a:endParaRPr sz="1800" dirty="0">
              <a:latin typeface="Arial"/>
              <a:cs typeface="Arial"/>
            </a:endParaRPr>
          </a:p>
          <a:p>
            <a:pPr marL="287020" marR="304800" indent="-274320">
              <a:lnSpc>
                <a:spcPct val="100000"/>
              </a:lnSpc>
              <a:spcBef>
                <a:spcPts val="490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spc="-30" dirty="0">
                <a:latin typeface="Arial"/>
                <a:cs typeface="Arial"/>
              </a:rPr>
              <a:t>Adaptive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and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collaborative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approach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30" dirty="0">
                <a:latin typeface="Arial"/>
                <a:cs typeface="Arial"/>
              </a:rPr>
              <a:t>to  </a:t>
            </a:r>
            <a:r>
              <a:rPr sz="1800" spc="-25" dirty="0">
                <a:latin typeface="Arial"/>
                <a:cs typeface="Arial"/>
              </a:rPr>
              <a:t>address </a:t>
            </a:r>
            <a:r>
              <a:rPr sz="1800" spc="15" dirty="0">
                <a:latin typeface="Arial"/>
                <a:cs typeface="Arial"/>
              </a:rPr>
              <a:t>traditional</a:t>
            </a:r>
            <a:r>
              <a:rPr sz="1800" spc="-254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challenges</a:t>
            </a:r>
            <a:endParaRPr sz="1800" dirty="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spc="-45" dirty="0">
                <a:latin typeface="Arial"/>
                <a:cs typeface="Arial"/>
              </a:rPr>
              <a:t>Emphasizes </a:t>
            </a:r>
            <a:r>
              <a:rPr sz="1800" spc="-10" dirty="0">
                <a:latin typeface="Arial"/>
                <a:cs typeface="Arial"/>
              </a:rPr>
              <a:t>iterative </a:t>
            </a:r>
            <a:r>
              <a:rPr sz="1800" spc="-15" dirty="0">
                <a:latin typeface="Arial"/>
                <a:cs typeface="Arial"/>
              </a:rPr>
              <a:t>and</a:t>
            </a:r>
            <a:r>
              <a:rPr sz="1800" spc="-3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incremental</a:t>
            </a:r>
          </a:p>
          <a:p>
            <a:pPr marL="28702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development</a:t>
            </a:r>
            <a:endParaRPr sz="1800" dirty="0">
              <a:latin typeface="Arial"/>
              <a:cs typeface="Arial"/>
            </a:endParaRPr>
          </a:p>
          <a:p>
            <a:pPr marL="287020" marR="477520" indent="-274320">
              <a:lnSpc>
                <a:spcPct val="100000"/>
              </a:lnSpc>
              <a:spcBef>
                <a:spcPts val="505"/>
              </a:spcBef>
              <a:buChar char="•"/>
              <a:tabLst>
                <a:tab pos="287020" algn="l"/>
                <a:tab pos="287655" algn="l"/>
              </a:tabLst>
            </a:pPr>
            <a:r>
              <a:rPr sz="1800" spc="-40" dirty="0">
                <a:latin typeface="Arial"/>
                <a:cs typeface="Arial"/>
              </a:rPr>
              <a:t>Focuses </a:t>
            </a:r>
            <a:r>
              <a:rPr sz="1800" spc="-10" dirty="0">
                <a:latin typeface="Arial"/>
                <a:cs typeface="Arial"/>
              </a:rPr>
              <a:t>on </a:t>
            </a:r>
            <a:r>
              <a:rPr sz="1800" spc="5" dirty="0">
                <a:latin typeface="Arial"/>
                <a:cs typeface="Arial"/>
              </a:rPr>
              <a:t>continuous </a:t>
            </a:r>
            <a:r>
              <a:rPr sz="1800" spc="-20" dirty="0">
                <a:latin typeface="Arial"/>
                <a:cs typeface="Arial"/>
              </a:rPr>
              <a:t>feedback</a:t>
            </a:r>
            <a:r>
              <a:rPr sz="1800" spc="-35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and  </a:t>
            </a:r>
            <a:r>
              <a:rPr sz="1800" spc="5" dirty="0">
                <a:latin typeface="Arial"/>
                <a:cs typeface="Arial"/>
              </a:rPr>
              <a:t>collaboration </a:t>
            </a:r>
            <a:r>
              <a:rPr sz="1800" spc="25" dirty="0">
                <a:latin typeface="Arial"/>
                <a:cs typeface="Arial"/>
              </a:rPr>
              <a:t>with</a:t>
            </a:r>
            <a:r>
              <a:rPr sz="1800" spc="-2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stakeholders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291571" y="0"/>
            <a:ext cx="1245107" cy="798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9209" y="504316"/>
            <a:ext cx="4685665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540"/>
              </a:lnSpc>
            </a:pPr>
            <a:r>
              <a:rPr sz="4200" spc="-105" dirty="0">
                <a:latin typeface="Arial"/>
                <a:cs typeface="Arial"/>
              </a:rPr>
              <a:t>Agile </a:t>
            </a:r>
            <a:r>
              <a:rPr sz="4200" spc="-60" dirty="0">
                <a:latin typeface="Arial"/>
                <a:cs typeface="Arial"/>
              </a:rPr>
              <a:t>Requirements  </a:t>
            </a:r>
            <a:r>
              <a:rPr sz="4200" spc="-110" dirty="0">
                <a:latin typeface="Arial"/>
                <a:cs typeface="Arial"/>
              </a:rPr>
              <a:t>Engineering</a:t>
            </a:r>
            <a:r>
              <a:rPr sz="4200" spc="-375" dirty="0">
                <a:latin typeface="Arial"/>
                <a:cs typeface="Arial"/>
              </a:rPr>
              <a:t> </a:t>
            </a:r>
            <a:r>
              <a:rPr sz="4200" spc="-90" dirty="0">
                <a:latin typeface="Arial"/>
                <a:cs typeface="Arial"/>
              </a:rPr>
              <a:t>Process</a:t>
            </a:r>
            <a:endParaRPr sz="42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0" y="149351"/>
                </a:moveTo>
                <a:lnTo>
                  <a:pt x="5021580" y="149351"/>
                </a:lnTo>
                <a:lnTo>
                  <a:pt x="50215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8159" y="861060"/>
            <a:ext cx="4945380" cy="887094"/>
          </a:xfrm>
          <a:custGeom>
            <a:avLst/>
            <a:gdLst/>
            <a:ahLst/>
            <a:cxnLst/>
            <a:rect l="l" t="t" r="r" b="b"/>
            <a:pathLst>
              <a:path w="4945380" h="887094">
                <a:moveTo>
                  <a:pt x="4856734" y="0"/>
                </a:moveTo>
                <a:lnTo>
                  <a:pt x="88696" y="0"/>
                </a:lnTo>
                <a:lnTo>
                  <a:pt x="54172" y="6975"/>
                </a:lnTo>
                <a:lnTo>
                  <a:pt x="25979" y="25987"/>
                </a:lnTo>
                <a:lnTo>
                  <a:pt x="6970" y="54167"/>
                </a:lnTo>
                <a:lnTo>
                  <a:pt x="0" y="88645"/>
                </a:lnTo>
                <a:lnTo>
                  <a:pt x="0" y="798322"/>
                </a:lnTo>
                <a:lnTo>
                  <a:pt x="6970" y="832800"/>
                </a:lnTo>
                <a:lnTo>
                  <a:pt x="25979" y="860980"/>
                </a:lnTo>
                <a:lnTo>
                  <a:pt x="54172" y="879992"/>
                </a:lnTo>
                <a:lnTo>
                  <a:pt x="88696" y="886967"/>
                </a:lnTo>
                <a:lnTo>
                  <a:pt x="4856734" y="886967"/>
                </a:lnTo>
                <a:lnTo>
                  <a:pt x="4891212" y="879992"/>
                </a:lnTo>
                <a:lnTo>
                  <a:pt x="4919392" y="860980"/>
                </a:lnTo>
                <a:lnTo>
                  <a:pt x="4938404" y="832800"/>
                </a:lnTo>
                <a:lnTo>
                  <a:pt x="4945380" y="798322"/>
                </a:lnTo>
                <a:lnTo>
                  <a:pt x="4945380" y="88645"/>
                </a:lnTo>
                <a:lnTo>
                  <a:pt x="4938404" y="54167"/>
                </a:lnTo>
                <a:lnTo>
                  <a:pt x="4919392" y="25987"/>
                </a:lnTo>
                <a:lnTo>
                  <a:pt x="4891212" y="6975"/>
                </a:lnTo>
                <a:lnTo>
                  <a:pt x="4856734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664" y="1134630"/>
            <a:ext cx="161290" cy="161290"/>
          </a:xfrm>
          <a:custGeom>
            <a:avLst/>
            <a:gdLst/>
            <a:ahLst/>
            <a:cxnLst/>
            <a:rect l="l" t="t" r="r" b="b"/>
            <a:pathLst>
              <a:path w="161290" h="161290">
                <a:moveTo>
                  <a:pt x="80361" y="0"/>
                </a:moveTo>
                <a:lnTo>
                  <a:pt x="49080" y="6318"/>
                </a:lnTo>
                <a:lnTo>
                  <a:pt x="23537" y="23549"/>
                </a:lnTo>
                <a:lnTo>
                  <a:pt x="6315" y="49107"/>
                </a:lnTo>
                <a:lnTo>
                  <a:pt x="0" y="80405"/>
                </a:lnTo>
                <a:lnTo>
                  <a:pt x="6315" y="111703"/>
                </a:lnTo>
                <a:lnTo>
                  <a:pt x="23537" y="137261"/>
                </a:lnTo>
                <a:lnTo>
                  <a:pt x="49080" y="154492"/>
                </a:lnTo>
                <a:lnTo>
                  <a:pt x="80361" y="160811"/>
                </a:lnTo>
                <a:lnTo>
                  <a:pt x="90770" y="158708"/>
                </a:lnTo>
                <a:lnTo>
                  <a:pt x="158611" y="90869"/>
                </a:lnTo>
                <a:lnTo>
                  <a:pt x="160722" y="80405"/>
                </a:lnTo>
                <a:lnTo>
                  <a:pt x="154407" y="49107"/>
                </a:lnTo>
                <a:lnTo>
                  <a:pt x="137185" y="23550"/>
                </a:lnTo>
                <a:lnTo>
                  <a:pt x="111641" y="6318"/>
                </a:lnTo>
                <a:lnTo>
                  <a:pt x="8036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0664" y="1134630"/>
            <a:ext cx="161290" cy="161290"/>
          </a:xfrm>
          <a:custGeom>
            <a:avLst/>
            <a:gdLst/>
            <a:ahLst/>
            <a:cxnLst/>
            <a:rect l="l" t="t" r="r" b="b"/>
            <a:pathLst>
              <a:path w="161290" h="161290">
                <a:moveTo>
                  <a:pt x="90770" y="158708"/>
                </a:moveTo>
                <a:lnTo>
                  <a:pt x="49080" y="154492"/>
                </a:lnTo>
                <a:lnTo>
                  <a:pt x="6315" y="111703"/>
                </a:lnTo>
                <a:lnTo>
                  <a:pt x="0" y="80405"/>
                </a:lnTo>
                <a:lnTo>
                  <a:pt x="6315" y="49107"/>
                </a:lnTo>
                <a:lnTo>
                  <a:pt x="23537" y="23549"/>
                </a:lnTo>
                <a:lnTo>
                  <a:pt x="49080" y="6318"/>
                </a:lnTo>
                <a:lnTo>
                  <a:pt x="80361" y="0"/>
                </a:lnTo>
                <a:lnTo>
                  <a:pt x="111641" y="6318"/>
                </a:lnTo>
                <a:lnTo>
                  <a:pt x="137185" y="23550"/>
                </a:lnTo>
                <a:lnTo>
                  <a:pt x="154407" y="49107"/>
                </a:lnTo>
                <a:lnTo>
                  <a:pt x="160722" y="80405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0302" y="1316080"/>
            <a:ext cx="148590" cy="148590"/>
          </a:xfrm>
          <a:custGeom>
            <a:avLst/>
            <a:gdLst/>
            <a:ahLst/>
            <a:cxnLst/>
            <a:rect l="l" t="t" r="r" b="b"/>
            <a:pathLst>
              <a:path w="148590" h="148590">
                <a:moveTo>
                  <a:pt x="148390" y="0"/>
                </a:moveTo>
                <a:lnTo>
                  <a:pt x="94424" y="9513"/>
                </a:lnTo>
                <a:lnTo>
                  <a:pt x="52988" y="25594"/>
                </a:lnTo>
                <a:lnTo>
                  <a:pt x="16072" y="47705"/>
                </a:lnTo>
                <a:lnTo>
                  <a:pt x="0" y="79867"/>
                </a:lnTo>
                <a:lnTo>
                  <a:pt x="0" y="148386"/>
                </a:lnTo>
                <a:lnTo>
                  <a:pt x="148390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0302" y="1316080"/>
            <a:ext cx="148590" cy="148590"/>
          </a:xfrm>
          <a:custGeom>
            <a:avLst/>
            <a:gdLst/>
            <a:ahLst/>
            <a:cxnLst/>
            <a:rect l="l" t="t" r="r" b="b"/>
            <a:pathLst>
              <a:path w="148590" h="148590">
                <a:moveTo>
                  <a:pt x="148390" y="0"/>
                </a:moveTo>
                <a:lnTo>
                  <a:pt x="94424" y="9513"/>
                </a:lnTo>
                <a:lnTo>
                  <a:pt x="52988" y="25594"/>
                </a:lnTo>
                <a:lnTo>
                  <a:pt x="16072" y="47705"/>
                </a:lnTo>
                <a:lnTo>
                  <a:pt x="0" y="79867"/>
                </a:lnTo>
                <a:lnTo>
                  <a:pt x="0" y="148386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6383" y="1060703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0" y="487679"/>
                </a:moveTo>
                <a:lnTo>
                  <a:pt x="487679" y="487679"/>
                </a:lnTo>
                <a:lnTo>
                  <a:pt x="487679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24075" y="1146175"/>
            <a:ext cx="129476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45" dirty="0">
                <a:latin typeface="Arial"/>
                <a:cs typeface="Arial"/>
              </a:rPr>
              <a:t>User</a:t>
            </a:r>
            <a:r>
              <a:rPr sz="1900" spc="-170" dirty="0">
                <a:latin typeface="Arial"/>
                <a:cs typeface="Arial"/>
              </a:rPr>
              <a:t> </a:t>
            </a:r>
            <a:r>
              <a:rPr sz="1900" spc="-35" dirty="0">
                <a:latin typeface="Arial"/>
                <a:cs typeface="Arial"/>
              </a:rPr>
              <a:t>Stories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8159" y="1970532"/>
            <a:ext cx="4945380" cy="887094"/>
          </a:xfrm>
          <a:custGeom>
            <a:avLst/>
            <a:gdLst/>
            <a:ahLst/>
            <a:cxnLst/>
            <a:rect l="l" t="t" r="r" b="b"/>
            <a:pathLst>
              <a:path w="4945380" h="887094">
                <a:moveTo>
                  <a:pt x="4856734" y="0"/>
                </a:moveTo>
                <a:lnTo>
                  <a:pt x="88696" y="0"/>
                </a:lnTo>
                <a:lnTo>
                  <a:pt x="54172" y="6975"/>
                </a:lnTo>
                <a:lnTo>
                  <a:pt x="25979" y="25987"/>
                </a:lnTo>
                <a:lnTo>
                  <a:pt x="6970" y="54167"/>
                </a:lnTo>
                <a:lnTo>
                  <a:pt x="0" y="88645"/>
                </a:lnTo>
                <a:lnTo>
                  <a:pt x="0" y="798321"/>
                </a:lnTo>
                <a:lnTo>
                  <a:pt x="6970" y="832800"/>
                </a:lnTo>
                <a:lnTo>
                  <a:pt x="25979" y="860980"/>
                </a:lnTo>
                <a:lnTo>
                  <a:pt x="54172" y="879992"/>
                </a:lnTo>
                <a:lnTo>
                  <a:pt x="88696" y="886967"/>
                </a:lnTo>
                <a:lnTo>
                  <a:pt x="4856734" y="886967"/>
                </a:lnTo>
                <a:lnTo>
                  <a:pt x="4891212" y="879992"/>
                </a:lnTo>
                <a:lnTo>
                  <a:pt x="4919392" y="860980"/>
                </a:lnTo>
                <a:lnTo>
                  <a:pt x="4938404" y="832800"/>
                </a:lnTo>
                <a:lnTo>
                  <a:pt x="4945380" y="798321"/>
                </a:lnTo>
                <a:lnTo>
                  <a:pt x="4945380" y="88645"/>
                </a:lnTo>
                <a:lnTo>
                  <a:pt x="4938404" y="54167"/>
                </a:lnTo>
                <a:lnTo>
                  <a:pt x="4919392" y="25987"/>
                </a:lnTo>
                <a:lnTo>
                  <a:pt x="4891212" y="6975"/>
                </a:lnTo>
                <a:lnTo>
                  <a:pt x="4856734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0122" y="2388329"/>
            <a:ext cx="188595" cy="186690"/>
          </a:xfrm>
          <a:custGeom>
            <a:avLst/>
            <a:gdLst/>
            <a:ahLst/>
            <a:cxnLst/>
            <a:rect l="l" t="t" r="r" b="b"/>
            <a:pathLst>
              <a:path w="188594" h="186689">
                <a:moveTo>
                  <a:pt x="162731" y="0"/>
                </a:moveTo>
                <a:lnTo>
                  <a:pt x="0" y="21106"/>
                </a:lnTo>
                <a:lnTo>
                  <a:pt x="13560" y="130658"/>
                </a:lnTo>
                <a:lnTo>
                  <a:pt x="27498" y="172369"/>
                </a:lnTo>
                <a:lnTo>
                  <a:pt x="39584" y="186204"/>
                </a:lnTo>
                <a:lnTo>
                  <a:pt x="70009" y="155781"/>
                </a:lnTo>
                <a:lnTo>
                  <a:pt x="76869" y="144305"/>
                </a:lnTo>
                <a:lnTo>
                  <a:pt x="89967" y="131412"/>
                </a:lnTo>
                <a:lnTo>
                  <a:pt x="100381" y="125409"/>
                </a:lnTo>
                <a:lnTo>
                  <a:pt x="127294" y="98496"/>
                </a:lnTo>
                <a:lnTo>
                  <a:pt x="65293" y="98496"/>
                </a:lnTo>
                <a:lnTo>
                  <a:pt x="63284" y="97491"/>
                </a:lnTo>
                <a:lnTo>
                  <a:pt x="61275" y="95984"/>
                </a:lnTo>
                <a:lnTo>
                  <a:pt x="57257" y="92466"/>
                </a:lnTo>
                <a:lnTo>
                  <a:pt x="56755" y="85933"/>
                </a:lnTo>
                <a:lnTo>
                  <a:pt x="81868" y="57288"/>
                </a:lnTo>
                <a:lnTo>
                  <a:pt x="88397" y="56786"/>
                </a:lnTo>
                <a:lnTo>
                  <a:pt x="137869" y="56786"/>
                </a:lnTo>
                <a:lnTo>
                  <a:pt x="138623" y="55278"/>
                </a:lnTo>
                <a:lnTo>
                  <a:pt x="141636" y="50756"/>
                </a:lnTo>
                <a:lnTo>
                  <a:pt x="147663" y="49248"/>
                </a:lnTo>
                <a:lnTo>
                  <a:pt x="176544" y="49248"/>
                </a:lnTo>
                <a:lnTo>
                  <a:pt x="188407" y="37386"/>
                </a:lnTo>
                <a:lnTo>
                  <a:pt x="180813" y="29147"/>
                </a:lnTo>
                <a:lnTo>
                  <a:pt x="175445" y="22260"/>
                </a:lnTo>
                <a:lnTo>
                  <a:pt x="170642" y="15138"/>
                </a:lnTo>
                <a:lnTo>
                  <a:pt x="166404" y="7734"/>
                </a:lnTo>
                <a:lnTo>
                  <a:pt x="162731" y="0"/>
                </a:lnTo>
                <a:close/>
              </a:path>
              <a:path w="188594" h="186689">
                <a:moveTo>
                  <a:pt x="137869" y="56786"/>
                </a:moveTo>
                <a:lnTo>
                  <a:pt x="88397" y="56786"/>
                </a:lnTo>
                <a:lnTo>
                  <a:pt x="96433" y="63821"/>
                </a:lnTo>
                <a:lnTo>
                  <a:pt x="96935" y="70354"/>
                </a:lnTo>
                <a:lnTo>
                  <a:pt x="75338" y="94979"/>
                </a:lnTo>
                <a:lnTo>
                  <a:pt x="73329" y="96989"/>
                </a:lnTo>
                <a:lnTo>
                  <a:pt x="70818" y="98496"/>
                </a:lnTo>
                <a:lnTo>
                  <a:pt x="127294" y="98496"/>
                </a:lnTo>
                <a:lnTo>
                  <a:pt x="151174" y="74617"/>
                </a:lnTo>
                <a:lnTo>
                  <a:pt x="142641" y="69349"/>
                </a:lnTo>
                <a:lnTo>
                  <a:pt x="137618" y="66334"/>
                </a:lnTo>
                <a:lnTo>
                  <a:pt x="136112" y="60304"/>
                </a:lnTo>
                <a:lnTo>
                  <a:pt x="137869" y="56786"/>
                </a:lnTo>
                <a:close/>
              </a:path>
              <a:path w="188594" h="186689">
                <a:moveTo>
                  <a:pt x="176544" y="49248"/>
                </a:moveTo>
                <a:lnTo>
                  <a:pt x="147663" y="49248"/>
                </a:lnTo>
                <a:lnTo>
                  <a:pt x="152686" y="51761"/>
                </a:lnTo>
                <a:lnTo>
                  <a:pt x="165884" y="59908"/>
                </a:lnTo>
                <a:lnTo>
                  <a:pt x="176544" y="49248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0122" y="2388329"/>
            <a:ext cx="188595" cy="186690"/>
          </a:xfrm>
          <a:custGeom>
            <a:avLst/>
            <a:gdLst/>
            <a:ahLst/>
            <a:cxnLst/>
            <a:rect l="l" t="t" r="r" b="b"/>
            <a:pathLst>
              <a:path w="188594" h="186689">
                <a:moveTo>
                  <a:pt x="188407" y="37386"/>
                </a:moveTo>
                <a:lnTo>
                  <a:pt x="162731" y="0"/>
                </a:lnTo>
                <a:lnTo>
                  <a:pt x="0" y="21106"/>
                </a:lnTo>
                <a:lnTo>
                  <a:pt x="13560" y="130658"/>
                </a:lnTo>
                <a:lnTo>
                  <a:pt x="27498" y="172369"/>
                </a:lnTo>
                <a:lnTo>
                  <a:pt x="39584" y="186204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8745" y="2437578"/>
            <a:ext cx="27305" cy="10795"/>
          </a:xfrm>
          <a:custGeom>
            <a:avLst/>
            <a:gdLst/>
            <a:ahLst/>
            <a:cxnLst/>
            <a:rect l="l" t="t" r="r" b="b"/>
            <a:pathLst>
              <a:path w="27305" h="10794">
                <a:moveTo>
                  <a:pt x="0" y="6030"/>
                </a:moveTo>
                <a:lnTo>
                  <a:pt x="3013" y="1507"/>
                </a:lnTo>
                <a:lnTo>
                  <a:pt x="9040" y="0"/>
                </a:lnTo>
                <a:lnTo>
                  <a:pt x="14063" y="2512"/>
                </a:lnTo>
                <a:lnTo>
                  <a:pt x="27260" y="10660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66234" y="2443608"/>
            <a:ext cx="15240" cy="19685"/>
          </a:xfrm>
          <a:custGeom>
            <a:avLst/>
            <a:gdLst/>
            <a:ahLst/>
            <a:cxnLst/>
            <a:rect l="l" t="t" r="r" b="b"/>
            <a:pathLst>
              <a:path w="15240" h="19685">
                <a:moveTo>
                  <a:pt x="15062" y="19338"/>
                </a:moveTo>
                <a:lnTo>
                  <a:pt x="6529" y="14070"/>
                </a:lnTo>
                <a:lnTo>
                  <a:pt x="1506" y="11055"/>
                </a:lnTo>
                <a:lnTo>
                  <a:pt x="0" y="5025"/>
                </a:lnTo>
                <a:lnTo>
                  <a:pt x="2511" y="0"/>
                </a:lnTo>
              </a:path>
            </a:pathLst>
          </a:custGeom>
          <a:ln w="5860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6877" y="2445116"/>
            <a:ext cx="40640" cy="41910"/>
          </a:xfrm>
          <a:custGeom>
            <a:avLst/>
            <a:gdLst/>
            <a:ahLst/>
            <a:cxnLst/>
            <a:rect l="l" t="t" r="r" b="b"/>
            <a:pathLst>
              <a:path w="40640" h="41910">
                <a:moveTo>
                  <a:pt x="3515" y="25126"/>
                </a:moveTo>
                <a:lnTo>
                  <a:pt x="21597" y="4522"/>
                </a:lnTo>
                <a:lnTo>
                  <a:pt x="25112" y="502"/>
                </a:lnTo>
                <a:lnTo>
                  <a:pt x="31642" y="0"/>
                </a:lnTo>
                <a:lnTo>
                  <a:pt x="35660" y="3517"/>
                </a:lnTo>
                <a:lnTo>
                  <a:pt x="39678" y="7035"/>
                </a:lnTo>
                <a:lnTo>
                  <a:pt x="40180" y="13568"/>
                </a:lnTo>
                <a:lnTo>
                  <a:pt x="36664" y="17588"/>
                </a:lnTo>
                <a:lnTo>
                  <a:pt x="18583" y="38192"/>
                </a:lnTo>
                <a:lnTo>
                  <a:pt x="16574" y="40202"/>
                </a:lnTo>
                <a:lnTo>
                  <a:pt x="14063" y="41710"/>
                </a:lnTo>
                <a:lnTo>
                  <a:pt x="11049" y="41710"/>
                </a:lnTo>
                <a:lnTo>
                  <a:pt x="0" y="29146"/>
                </a:lnTo>
                <a:lnTo>
                  <a:pt x="3515" y="25126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0131" y="2513739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80" h="30480">
                <a:moveTo>
                  <a:pt x="0" y="30371"/>
                </a:moveTo>
                <a:lnTo>
                  <a:pt x="6859" y="18895"/>
                </a:lnTo>
                <a:lnTo>
                  <a:pt x="19957" y="6002"/>
                </a:lnTo>
                <a:lnTo>
                  <a:pt x="30371" y="0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01894" y="2213950"/>
            <a:ext cx="210185" cy="196850"/>
          </a:xfrm>
          <a:custGeom>
            <a:avLst/>
            <a:gdLst/>
            <a:ahLst/>
            <a:cxnLst/>
            <a:rect l="l" t="t" r="r" b="b"/>
            <a:pathLst>
              <a:path w="210184" h="196850">
                <a:moveTo>
                  <a:pt x="10045" y="0"/>
                </a:moveTo>
                <a:lnTo>
                  <a:pt x="0" y="110055"/>
                </a:lnTo>
                <a:lnTo>
                  <a:pt x="4449" y="153775"/>
                </a:lnTo>
                <a:lnTo>
                  <a:pt x="24673" y="191088"/>
                </a:lnTo>
                <a:lnTo>
                  <a:pt x="31606" y="196794"/>
                </a:lnTo>
                <a:lnTo>
                  <a:pt x="60586" y="167815"/>
                </a:lnTo>
                <a:lnTo>
                  <a:pt x="55648" y="163292"/>
                </a:lnTo>
                <a:lnTo>
                  <a:pt x="45705" y="147745"/>
                </a:lnTo>
                <a:lnTo>
                  <a:pt x="43194" y="142719"/>
                </a:lnTo>
                <a:lnTo>
                  <a:pt x="45705" y="136689"/>
                </a:lnTo>
                <a:lnTo>
                  <a:pt x="55750" y="131664"/>
                </a:lnTo>
                <a:lnTo>
                  <a:pt x="96738" y="131664"/>
                </a:lnTo>
                <a:lnTo>
                  <a:pt x="139511" y="88892"/>
                </a:lnTo>
                <a:lnTo>
                  <a:pt x="134605" y="88446"/>
                </a:lnTo>
                <a:lnTo>
                  <a:pt x="130989" y="83923"/>
                </a:lnTo>
                <a:lnTo>
                  <a:pt x="85383" y="83923"/>
                </a:lnTo>
                <a:lnTo>
                  <a:pt x="52234" y="80908"/>
                </a:lnTo>
                <a:lnTo>
                  <a:pt x="48216" y="75882"/>
                </a:lnTo>
                <a:lnTo>
                  <a:pt x="49221" y="64827"/>
                </a:lnTo>
                <a:lnTo>
                  <a:pt x="54243" y="60806"/>
                </a:lnTo>
                <a:lnTo>
                  <a:pt x="167597" y="60806"/>
                </a:lnTo>
                <a:lnTo>
                  <a:pt x="209666" y="18739"/>
                </a:lnTo>
                <a:lnTo>
                  <a:pt x="10045" y="0"/>
                </a:lnTo>
                <a:close/>
              </a:path>
              <a:path w="210184" h="196850">
                <a:moveTo>
                  <a:pt x="96738" y="131664"/>
                </a:moveTo>
                <a:lnTo>
                  <a:pt x="55750" y="131664"/>
                </a:lnTo>
                <a:lnTo>
                  <a:pt x="61777" y="134176"/>
                </a:lnTo>
                <a:lnTo>
                  <a:pt x="64289" y="139202"/>
                </a:lnTo>
                <a:lnTo>
                  <a:pt x="71430" y="150540"/>
                </a:lnTo>
                <a:lnTo>
                  <a:pt x="74783" y="153618"/>
                </a:lnTo>
                <a:lnTo>
                  <a:pt x="96738" y="131664"/>
                </a:lnTo>
                <a:close/>
              </a:path>
              <a:path w="210184" h="196850">
                <a:moveTo>
                  <a:pt x="167597" y="60806"/>
                </a:moveTo>
                <a:lnTo>
                  <a:pt x="54243" y="60806"/>
                </a:lnTo>
                <a:lnTo>
                  <a:pt x="92917" y="64324"/>
                </a:lnTo>
                <a:lnTo>
                  <a:pt x="96935" y="69349"/>
                </a:lnTo>
                <a:lnTo>
                  <a:pt x="95931" y="79903"/>
                </a:lnTo>
                <a:lnTo>
                  <a:pt x="91411" y="83923"/>
                </a:lnTo>
                <a:lnTo>
                  <a:pt x="130989" y="83923"/>
                </a:lnTo>
                <a:lnTo>
                  <a:pt x="131272" y="75882"/>
                </a:lnTo>
                <a:lnTo>
                  <a:pt x="131591" y="72365"/>
                </a:lnTo>
                <a:lnTo>
                  <a:pt x="136614" y="68344"/>
                </a:lnTo>
                <a:lnTo>
                  <a:pt x="160059" y="68344"/>
                </a:lnTo>
                <a:lnTo>
                  <a:pt x="167597" y="60806"/>
                </a:lnTo>
                <a:close/>
              </a:path>
              <a:path w="210184" h="196850">
                <a:moveTo>
                  <a:pt x="160059" y="68344"/>
                </a:moveTo>
                <a:lnTo>
                  <a:pt x="136614" y="68344"/>
                </a:lnTo>
                <a:lnTo>
                  <a:pt x="158104" y="70299"/>
                </a:lnTo>
                <a:lnTo>
                  <a:pt x="160059" y="68344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01894" y="2213950"/>
            <a:ext cx="31750" cy="196850"/>
          </a:xfrm>
          <a:custGeom>
            <a:avLst/>
            <a:gdLst/>
            <a:ahLst/>
            <a:cxnLst/>
            <a:rect l="l" t="t" r="r" b="b"/>
            <a:pathLst>
              <a:path w="31750" h="196850">
                <a:moveTo>
                  <a:pt x="10045" y="0"/>
                </a:moveTo>
                <a:lnTo>
                  <a:pt x="0" y="110055"/>
                </a:lnTo>
                <a:lnTo>
                  <a:pt x="4449" y="153775"/>
                </a:lnTo>
                <a:lnTo>
                  <a:pt x="24673" y="191088"/>
                </a:lnTo>
                <a:lnTo>
                  <a:pt x="31606" y="196794"/>
                </a:lnTo>
              </a:path>
            </a:pathLst>
          </a:custGeom>
          <a:ln w="5859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11939" y="2213950"/>
            <a:ext cx="200025" cy="19050"/>
          </a:xfrm>
          <a:custGeom>
            <a:avLst/>
            <a:gdLst/>
            <a:ahLst/>
            <a:cxnLst/>
            <a:rect l="l" t="t" r="r" b="b"/>
            <a:pathLst>
              <a:path w="200025" h="19050">
                <a:moveTo>
                  <a:pt x="199620" y="18739"/>
                </a:moveTo>
                <a:lnTo>
                  <a:pt x="0" y="0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50111" y="2274757"/>
            <a:ext cx="48895" cy="23495"/>
          </a:xfrm>
          <a:custGeom>
            <a:avLst/>
            <a:gdLst/>
            <a:ahLst/>
            <a:cxnLst/>
            <a:rect l="l" t="t" r="r" b="b"/>
            <a:pathLst>
              <a:path w="48894" h="23494">
                <a:moveTo>
                  <a:pt x="11551" y="502"/>
                </a:moveTo>
                <a:lnTo>
                  <a:pt x="39176" y="3015"/>
                </a:lnTo>
                <a:lnTo>
                  <a:pt x="44701" y="3517"/>
                </a:lnTo>
                <a:lnTo>
                  <a:pt x="48719" y="8543"/>
                </a:lnTo>
                <a:lnTo>
                  <a:pt x="48216" y="14071"/>
                </a:lnTo>
                <a:lnTo>
                  <a:pt x="47714" y="19096"/>
                </a:lnTo>
                <a:lnTo>
                  <a:pt x="43194" y="23116"/>
                </a:lnTo>
                <a:lnTo>
                  <a:pt x="38171" y="23116"/>
                </a:lnTo>
                <a:lnTo>
                  <a:pt x="37669" y="23116"/>
                </a:lnTo>
                <a:lnTo>
                  <a:pt x="37167" y="23116"/>
                </a:lnTo>
                <a:lnTo>
                  <a:pt x="9542" y="20603"/>
                </a:lnTo>
                <a:lnTo>
                  <a:pt x="4018" y="20101"/>
                </a:lnTo>
                <a:lnTo>
                  <a:pt x="0" y="15076"/>
                </a:lnTo>
                <a:lnTo>
                  <a:pt x="502" y="9548"/>
                </a:lnTo>
                <a:lnTo>
                  <a:pt x="1004" y="4020"/>
                </a:lnTo>
                <a:lnTo>
                  <a:pt x="6027" y="0"/>
                </a:lnTo>
                <a:lnTo>
                  <a:pt x="11551" y="502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45088" y="2345614"/>
            <a:ext cx="31750" cy="36195"/>
          </a:xfrm>
          <a:custGeom>
            <a:avLst/>
            <a:gdLst/>
            <a:ahLst/>
            <a:cxnLst/>
            <a:rect l="l" t="t" r="r" b="b"/>
            <a:pathLst>
              <a:path w="31750" h="36194">
                <a:moveTo>
                  <a:pt x="17391" y="36151"/>
                </a:moveTo>
                <a:lnTo>
                  <a:pt x="12454" y="31628"/>
                </a:lnTo>
                <a:lnTo>
                  <a:pt x="2511" y="16081"/>
                </a:lnTo>
                <a:lnTo>
                  <a:pt x="0" y="11055"/>
                </a:lnTo>
                <a:lnTo>
                  <a:pt x="2511" y="5025"/>
                </a:lnTo>
                <a:lnTo>
                  <a:pt x="7533" y="2512"/>
                </a:lnTo>
                <a:lnTo>
                  <a:pt x="12556" y="0"/>
                </a:lnTo>
                <a:lnTo>
                  <a:pt x="18583" y="2512"/>
                </a:lnTo>
                <a:lnTo>
                  <a:pt x="21094" y="7538"/>
                </a:lnTo>
                <a:lnTo>
                  <a:pt x="28236" y="18876"/>
                </a:lnTo>
                <a:lnTo>
                  <a:pt x="31589" y="21954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32481" y="2282295"/>
            <a:ext cx="27940" cy="20955"/>
          </a:xfrm>
          <a:custGeom>
            <a:avLst/>
            <a:gdLst/>
            <a:ahLst/>
            <a:cxnLst/>
            <a:rect l="l" t="t" r="r" b="b"/>
            <a:pathLst>
              <a:path w="27940" h="20955">
                <a:moveTo>
                  <a:pt x="8923" y="20547"/>
                </a:moveTo>
                <a:lnTo>
                  <a:pt x="4018" y="20101"/>
                </a:lnTo>
                <a:lnTo>
                  <a:pt x="0" y="15076"/>
                </a:lnTo>
                <a:lnTo>
                  <a:pt x="502" y="9548"/>
                </a:lnTo>
                <a:lnTo>
                  <a:pt x="1004" y="4020"/>
                </a:lnTo>
                <a:lnTo>
                  <a:pt x="6027" y="0"/>
                </a:lnTo>
                <a:lnTo>
                  <a:pt x="11551" y="502"/>
                </a:lnTo>
                <a:lnTo>
                  <a:pt x="27517" y="1954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6383" y="2170176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0" y="487679"/>
                </a:moveTo>
                <a:lnTo>
                  <a:pt x="487679" y="487679"/>
                </a:lnTo>
                <a:lnTo>
                  <a:pt x="487679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624075" y="2254758"/>
            <a:ext cx="192087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40" dirty="0">
                <a:latin typeface="Tahoma"/>
                <a:cs typeface="Tahoma"/>
              </a:rPr>
              <a:t>Epics</a:t>
            </a:r>
            <a:r>
              <a:rPr sz="1900" spc="-4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 </a:t>
            </a:r>
            <a:r>
              <a:rPr sz="1900" spc="-25" dirty="0">
                <a:latin typeface="Tahoma"/>
                <a:cs typeface="Tahoma"/>
              </a:rPr>
              <a:t>Themes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5150" y="3092735"/>
            <a:ext cx="4945380" cy="889000"/>
          </a:xfrm>
          <a:custGeom>
            <a:avLst/>
            <a:gdLst/>
            <a:ahLst/>
            <a:cxnLst/>
            <a:rect l="l" t="t" r="r" b="b"/>
            <a:pathLst>
              <a:path w="4945380" h="889000">
                <a:moveTo>
                  <a:pt x="4856480" y="0"/>
                </a:moveTo>
                <a:lnTo>
                  <a:pt x="88849" y="0"/>
                </a:lnTo>
                <a:lnTo>
                  <a:pt x="54263" y="6979"/>
                </a:lnTo>
                <a:lnTo>
                  <a:pt x="26022" y="26019"/>
                </a:lnTo>
                <a:lnTo>
                  <a:pt x="6981" y="54274"/>
                </a:lnTo>
                <a:lnTo>
                  <a:pt x="0" y="88900"/>
                </a:lnTo>
                <a:lnTo>
                  <a:pt x="0" y="799592"/>
                </a:lnTo>
                <a:lnTo>
                  <a:pt x="6981" y="834217"/>
                </a:lnTo>
                <a:lnTo>
                  <a:pt x="26022" y="862472"/>
                </a:lnTo>
                <a:lnTo>
                  <a:pt x="54263" y="881512"/>
                </a:lnTo>
                <a:lnTo>
                  <a:pt x="88849" y="888492"/>
                </a:lnTo>
                <a:lnTo>
                  <a:pt x="4856480" y="888492"/>
                </a:lnTo>
                <a:lnTo>
                  <a:pt x="4891105" y="881512"/>
                </a:lnTo>
                <a:lnTo>
                  <a:pt x="4919360" y="862472"/>
                </a:lnTo>
                <a:lnTo>
                  <a:pt x="4938400" y="834217"/>
                </a:lnTo>
                <a:lnTo>
                  <a:pt x="4945380" y="799592"/>
                </a:lnTo>
                <a:lnTo>
                  <a:pt x="4945380" y="88900"/>
                </a:lnTo>
                <a:lnTo>
                  <a:pt x="4938400" y="54274"/>
                </a:lnTo>
                <a:lnTo>
                  <a:pt x="4919360" y="26019"/>
                </a:lnTo>
                <a:lnTo>
                  <a:pt x="4891105" y="6979"/>
                </a:lnTo>
                <a:lnTo>
                  <a:pt x="4856480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8982" y="3478305"/>
            <a:ext cx="158115" cy="160655"/>
          </a:xfrm>
          <a:custGeom>
            <a:avLst/>
            <a:gdLst/>
            <a:ahLst/>
            <a:cxnLst/>
            <a:rect l="l" t="t" r="r" b="b"/>
            <a:pathLst>
              <a:path w="158115" h="160654">
                <a:moveTo>
                  <a:pt x="42691" y="0"/>
                </a:moveTo>
                <a:lnTo>
                  <a:pt x="0" y="40832"/>
                </a:lnTo>
                <a:lnTo>
                  <a:pt x="115783" y="160241"/>
                </a:lnTo>
                <a:lnTo>
                  <a:pt x="157674" y="118220"/>
                </a:lnTo>
                <a:lnTo>
                  <a:pt x="4269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8982" y="3478305"/>
            <a:ext cx="158115" cy="160655"/>
          </a:xfrm>
          <a:custGeom>
            <a:avLst/>
            <a:gdLst/>
            <a:ahLst/>
            <a:cxnLst/>
            <a:rect l="l" t="t" r="r" b="b"/>
            <a:pathLst>
              <a:path w="158115" h="160654">
                <a:moveTo>
                  <a:pt x="157674" y="118220"/>
                </a:moveTo>
                <a:lnTo>
                  <a:pt x="42691" y="0"/>
                </a:lnTo>
                <a:lnTo>
                  <a:pt x="0" y="40832"/>
                </a:lnTo>
                <a:lnTo>
                  <a:pt x="115783" y="160241"/>
                </a:lnTo>
              </a:path>
            </a:pathLst>
          </a:custGeom>
          <a:ln w="5870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6383" y="3278123"/>
            <a:ext cx="487680" cy="489584"/>
          </a:xfrm>
          <a:custGeom>
            <a:avLst/>
            <a:gdLst/>
            <a:ahLst/>
            <a:cxnLst/>
            <a:rect l="l" t="t" r="r" b="b"/>
            <a:pathLst>
              <a:path w="487680" h="489585">
                <a:moveTo>
                  <a:pt x="0" y="489203"/>
                </a:moveTo>
                <a:lnTo>
                  <a:pt x="487679" y="489203"/>
                </a:lnTo>
                <a:lnTo>
                  <a:pt x="487679" y="0"/>
                </a:lnTo>
                <a:lnTo>
                  <a:pt x="0" y="0"/>
                </a:lnTo>
                <a:lnTo>
                  <a:pt x="0" y="489203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24075" y="3364229"/>
            <a:ext cx="211391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5" dirty="0">
                <a:latin typeface="Tahoma"/>
                <a:cs typeface="Tahoma"/>
              </a:rPr>
              <a:t>Backlog</a:t>
            </a:r>
            <a:r>
              <a:rPr sz="1900" spc="-2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Refinement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18159" y="4187952"/>
            <a:ext cx="4945380" cy="887094"/>
          </a:xfrm>
          <a:custGeom>
            <a:avLst/>
            <a:gdLst/>
            <a:ahLst/>
            <a:cxnLst/>
            <a:rect l="l" t="t" r="r" b="b"/>
            <a:pathLst>
              <a:path w="4945380" h="887095">
                <a:moveTo>
                  <a:pt x="4856734" y="0"/>
                </a:moveTo>
                <a:lnTo>
                  <a:pt x="88696" y="0"/>
                </a:lnTo>
                <a:lnTo>
                  <a:pt x="54172" y="6975"/>
                </a:lnTo>
                <a:lnTo>
                  <a:pt x="25979" y="25987"/>
                </a:lnTo>
                <a:lnTo>
                  <a:pt x="6970" y="54167"/>
                </a:lnTo>
                <a:lnTo>
                  <a:pt x="0" y="88646"/>
                </a:lnTo>
                <a:lnTo>
                  <a:pt x="0" y="798322"/>
                </a:lnTo>
                <a:lnTo>
                  <a:pt x="6970" y="832800"/>
                </a:lnTo>
                <a:lnTo>
                  <a:pt x="25979" y="860980"/>
                </a:lnTo>
                <a:lnTo>
                  <a:pt x="54172" y="879992"/>
                </a:lnTo>
                <a:lnTo>
                  <a:pt x="88696" y="886968"/>
                </a:lnTo>
                <a:lnTo>
                  <a:pt x="4856734" y="886968"/>
                </a:lnTo>
                <a:lnTo>
                  <a:pt x="4891212" y="879992"/>
                </a:lnTo>
                <a:lnTo>
                  <a:pt x="4919392" y="860980"/>
                </a:lnTo>
                <a:lnTo>
                  <a:pt x="4938404" y="832800"/>
                </a:lnTo>
                <a:lnTo>
                  <a:pt x="4945380" y="798322"/>
                </a:lnTo>
                <a:lnTo>
                  <a:pt x="4945380" y="88646"/>
                </a:lnTo>
                <a:lnTo>
                  <a:pt x="4938404" y="54167"/>
                </a:lnTo>
                <a:lnTo>
                  <a:pt x="4919392" y="25987"/>
                </a:lnTo>
                <a:lnTo>
                  <a:pt x="4891212" y="6975"/>
                </a:lnTo>
                <a:lnTo>
                  <a:pt x="4856734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5325" y="4431370"/>
            <a:ext cx="311785" cy="354965"/>
          </a:xfrm>
          <a:custGeom>
            <a:avLst/>
            <a:gdLst/>
            <a:ahLst/>
            <a:cxnLst/>
            <a:rect l="l" t="t" r="r" b="b"/>
            <a:pathLst>
              <a:path w="311784" h="354964">
                <a:moveTo>
                  <a:pt x="311400" y="0"/>
                </a:moveTo>
                <a:lnTo>
                  <a:pt x="0" y="0"/>
                </a:lnTo>
                <a:lnTo>
                  <a:pt x="0" y="354966"/>
                </a:lnTo>
                <a:lnTo>
                  <a:pt x="30135" y="324831"/>
                </a:lnTo>
                <a:lnTo>
                  <a:pt x="30135" y="30152"/>
                </a:lnTo>
                <a:lnTo>
                  <a:pt x="311400" y="30152"/>
                </a:lnTo>
                <a:lnTo>
                  <a:pt x="311400" y="0"/>
                </a:lnTo>
                <a:close/>
              </a:path>
              <a:path w="311784" h="354964">
                <a:moveTo>
                  <a:pt x="311400" y="30152"/>
                </a:moveTo>
                <a:lnTo>
                  <a:pt x="281264" y="30152"/>
                </a:lnTo>
                <a:lnTo>
                  <a:pt x="281264" y="73708"/>
                </a:lnTo>
                <a:lnTo>
                  <a:pt x="311400" y="43573"/>
                </a:lnTo>
                <a:lnTo>
                  <a:pt x="311400" y="30152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05461" y="4461522"/>
            <a:ext cx="251460" cy="43815"/>
          </a:xfrm>
          <a:custGeom>
            <a:avLst/>
            <a:gdLst/>
            <a:ahLst/>
            <a:cxnLst/>
            <a:rect l="l" t="t" r="r" b="b"/>
            <a:pathLst>
              <a:path w="251459" h="43814">
                <a:moveTo>
                  <a:pt x="0" y="0"/>
                </a:moveTo>
                <a:lnTo>
                  <a:pt x="251129" y="0"/>
                </a:lnTo>
                <a:lnTo>
                  <a:pt x="251129" y="43556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5461" y="4461522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294679"/>
                </a:moveTo>
                <a:lnTo>
                  <a:pt x="0" y="0"/>
                </a:lnTo>
              </a:path>
            </a:pathLst>
          </a:custGeom>
          <a:ln w="5859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5325" y="4431370"/>
            <a:ext cx="311785" cy="354965"/>
          </a:xfrm>
          <a:custGeom>
            <a:avLst/>
            <a:gdLst/>
            <a:ahLst/>
            <a:cxnLst/>
            <a:rect l="l" t="t" r="r" b="b"/>
            <a:pathLst>
              <a:path w="311784" h="354964">
                <a:moveTo>
                  <a:pt x="311400" y="43573"/>
                </a:moveTo>
                <a:lnTo>
                  <a:pt x="311400" y="0"/>
                </a:lnTo>
                <a:lnTo>
                  <a:pt x="0" y="0"/>
                </a:lnTo>
                <a:lnTo>
                  <a:pt x="0" y="354966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1070" y="4516801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383" y="0"/>
                </a:lnTo>
              </a:path>
            </a:pathLst>
          </a:custGeom>
          <a:ln w="2010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41070" y="4506750"/>
            <a:ext cx="85725" cy="20320"/>
          </a:xfrm>
          <a:custGeom>
            <a:avLst/>
            <a:gdLst/>
            <a:ahLst/>
            <a:cxnLst/>
            <a:rect l="l" t="t" r="r" b="b"/>
            <a:pathLst>
              <a:path w="85725" h="20320">
                <a:moveTo>
                  <a:pt x="0" y="20101"/>
                </a:moveTo>
                <a:lnTo>
                  <a:pt x="85383" y="20101"/>
                </a:lnTo>
                <a:lnTo>
                  <a:pt x="85383" y="0"/>
                </a:lnTo>
                <a:lnTo>
                  <a:pt x="0" y="0"/>
                </a:lnTo>
                <a:lnTo>
                  <a:pt x="0" y="20101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41070" y="4587156"/>
            <a:ext cx="33655" cy="20320"/>
          </a:xfrm>
          <a:custGeom>
            <a:avLst/>
            <a:gdLst/>
            <a:ahLst/>
            <a:cxnLst/>
            <a:rect l="l" t="t" r="r" b="b"/>
            <a:pathLst>
              <a:path w="33655" h="20320">
                <a:moveTo>
                  <a:pt x="33439" y="0"/>
                </a:moveTo>
                <a:lnTo>
                  <a:pt x="0" y="0"/>
                </a:lnTo>
                <a:lnTo>
                  <a:pt x="0" y="20101"/>
                </a:lnTo>
                <a:lnTo>
                  <a:pt x="13338" y="20101"/>
                </a:lnTo>
                <a:lnTo>
                  <a:pt x="33439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41070" y="4607257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>
                <a:moveTo>
                  <a:pt x="0" y="0"/>
                </a:moveTo>
                <a:lnTo>
                  <a:pt x="13338" y="0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41070" y="4587156"/>
            <a:ext cx="33655" cy="20320"/>
          </a:xfrm>
          <a:custGeom>
            <a:avLst/>
            <a:gdLst/>
            <a:ahLst/>
            <a:cxnLst/>
            <a:rect l="l" t="t" r="r" b="b"/>
            <a:pathLst>
              <a:path w="33655" h="20320">
                <a:moveTo>
                  <a:pt x="33439" y="0"/>
                </a:moveTo>
                <a:lnTo>
                  <a:pt x="0" y="0"/>
                </a:lnTo>
                <a:lnTo>
                  <a:pt x="0" y="20101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35596" y="4481623"/>
            <a:ext cx="74930" cy="61594"/>
          </a:xfrm>
          <a:custGeom>
            <a:avLst/>
            <a:gdLst/>
            <a:ahLst/>
            <a:cxnLst/>
            <a:rect l="l" t="t" r="r" b="b"/>
            <a:pathLst>
              <a:path w="74930" h="61595">
                <a:moveTo>
                  <a:pt x="14063" y="20101"/>
                </a:moveTo>
                <a:lnTo>
                  <a:pt x="0" y="34172"/>
                </a:lnTo>
                <a:lnTo>
                  <a:pt x="27121" y="61309"/>
                </a:lnTo>
                <a:lnTo>
                  <a:pt x="55248" y="33167"/>
                </a:lnTo>
                <a:lnTo>
                  <a:pt x="27121" y="33167"/>
                </a:lnTo>
                <a:lnTo>
                  <a:pt x="14063" y="20101"/>
                </a:lnTo>
                <a:close/>
              </a:path>
              <a:path w="74930" h="61595">
                <a:moveTo>
                  <a:pt x="60271" y="0"/>
                </a:moveTo>
                <a:lnTo>
                  <a:pt x="27121" y="33167"/>
                </a:lnTo>
                <a:lnTo>
                  <a:pt x="55248" y="33167"/>
                </a:lnTo>
                <a:lnTo>
                  <a:pt x="74334" y="14070"/>
                </a:lnTo>
                <a:lnTo>
                  <a:pt x="6027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35596" y="4481623"/>
            <a:ext cx="74930" cy="61594"/>
          </a:xfrm>
          <a:custGeom>
            <a:avLst/>
            <a:gdLst/>
            <a:ahLst/>
            <a:cxnLst/>
            <a:rect l="l" t="t" r="r" b="b"/>
            <a:pathLst>
              <a:path w="74930" h="61595">
                <a:moveTo>
                  <a:pt x="74334" y="14070"/>
                </a:moveTo>
                <a:lnTo>
                  <a:pt x="60271" y="0"/>
                </a:lnTo>
                <a:lnTo>
                  <a:pt x="27121" y="33167"/>
                </a:lnTo>
                <a:lnTo>
                  <a:pt x="14063" y="20101"/>
                </a:lnTo>
                <a:lnTo>
                  <a:pt x="0" y="34172"/>
                </a:lnTo>
                <a:lnTo>
                  <a:pt x="27121" y="61309"/>
                </a:lnTo>
                <a:lnTo>
                  <a:pt x="74334" y="14070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35596" y="4562029"/>
            <a:ext cx="74930" cy="61594"/>
          </a:xfrm>
          <a:custGeom>
            <a:avLst/>
            <a:gdLst/>
            <a:ahLst/>
            <a:cxnLst/>
            <a:rect l="l" t="t" r="r" b="b"/>
            <a:pathLst>
              <a:path w="74930" h="61595">
                <a:moveTo>
                  <a:pt x="14063" y="20101"/>
                </a:moveTo>
                <a:lnTo>
                  <a:pt x="0" y="34172"/>
                </a:lnTo>
                <a:lnTo>
                  <a:pt x="27121" y="61309"/>
                </a:lnTo>
                <a:lnTo>
                  <a:pt x="55248" y="33167"/>
                </a:lnTo>
                <a:lnTo>
                  <a:pt x="27121" y="33167"/>
                </a:lnTo>
                <a:lnTo>
                  <a:pt x="14063" y="20101"/>
                </a:lnTo>
                <a:close/>
              </a:path>
              <a:path w="74930" h="61595">
                <a:moveTo>
                  <a:pt x="60271" y="0"/>
                </a:moveTo>
                <a:lnTo>
                  <a:pt x="27121" y="33167"/>
                </a:lnTo>
                <a:lnTo>
                  <a:pt x="55248" y="33167"/>
                </a:lnTo>
                <a:lnTo>
                  <a:pt x="74334" y="14070"/>
                </a:lnTo>
                <a:lnTo>
                  <a:pt x="6027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35596" y="4562029"/>
            <a:ext cx="74930" cy="61594"/>
          </a:xfrm>
          <a:custGeom>
            <a:avLst/>
            <a:gdLst/>
            <a:ahLst/>
            <a:cxnLst/>
            <a:rect l="l" t="t" r="r" b="b"/>
            <a:pathLst>
              <a:path w="74930" h="61595">
                <a:moveTo>
                  <a:pt x="74334" y="14070"/>
                </a:moveTo>
                <a:lnTo>
                  <a:pt x="60271" y="0"/>
                </a:lnTo>
                <a:lnTo>
                  <a:pt x="27121" y="33167"/>
                </a:lnTo>
                <a:lnTo>
                  <a:pt x="14063" y="20101"/>
                </a:lnTo>
                <a:lnTo>
                  <a:pt x="0" y="34172"/>
                </a:lnTo>
                <a:lnTo>
                  <a:pt x="27121" y="61309"/>
                </a:lnTo>
                <a:lnTo>
                  <a:pt x="74334" y="14070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35596" y="4642434"/>
            <a:ext cx="72390" cy="59055"/>
          </a:xfrm>
          <a:custGeom>
            <a:avLst/>
            <a:gdLst/>
            <a:ahLst/>
            <a:cxnLst/>
            <a:rect l="l" t="t" r="r" b="b"/>
            <a:pathLst>
              <a:path w="72390" h="59054">
                <a:moveTo>
                  <a:pt x="14063" y="20101"/>
                </a:moveTo>
                <a:lnTo>
                  <a:pt x="0" y="34172"/>
                </a:lnTo>
                <a:lnTo>
                  <a:pt x="24723" y="58909"/>
                </a:lnTo>
                <a:lnTo>
                  <a:pt x="50465" y="33167"/>
                </a:lnTo>
                <a:lnTo>
                  <a:pt x="27121" y="33167"/>
                </a:lnTo>
                <a:lnTo>
                  <a:pt x="14063" y="20101"/>
                </a:lnTo>
                <a:close/>
              </a:path>
              <a:path w="72390" h="59054">
                <a:moveTo>
                  <a:pt x="60271" y="0"/>
                </a:moveTo>
                <a:lnTo>
                  <a:pt x="27121" y="33167"/>
                </a:lnTo>
                <a:lnTo>
                  <a:pt x="50465" y="33167"/>
                </a:lnTo>
                <a:lnTo>
                  <a:pt x="71949" y="11684"/>
                </a:lnTo>
                <a:lnTo>
                  <a:pt x="6027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35596" y="4642434"/>
            <a:ext cx="72390" cy="59055"/>
          </a:xfrm>
          <a:custGeom>
            <a:avLst/>
            <a:gdLst/>
            <a:ahLst/>
            <a:cxnLst/>
            <a:rect l="l" t="t" r="r" b="b"/>
            <a:pathLst>
              <a:path w="72390" h="59054">
                <a:moveTo>
                  <a:pt x="71949" y="11684"/>
                </a:moveTo>
                <a:lnTo>
                  <a:pt x="60271" y="0"/>
                </a:lnTo>
                <a:lnTo>
                  <a:pt x="27121" y="33167"/>
                </a:lnTo>
                <a:lnTo>
                  <a:pt x="14063" y="20101"/>
                </a:lnTo>
                <a:lnTo>
                  <a:pt x="0" y="34172"/>
                </a:lnTo>
                <a:lnTo>
                  <a:pt x="24723" y="58909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6383" y="4387596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79">
                <a:moveTo>
                  <a:pt x="0" y="487679"/>
                </a:moveTo>
                <a:lnTo>
                  <a:pt x="487679" y="487679"/>
                </a:lnTo>
                <a:lnTo>
                  <a:pt x="487679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624075" y="4473702"/>
            <a:ext cx="2580640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5" dirty="0">
                <a:latin typeface="Tahoma"/>
                <a:cs typeface="Tahoma"/>
              </a:rPr>
              <a:t>Prioritization</a:t>
            </a:r>
            <a:r>
              <a:rPr sz="1900" spc="-21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Techniques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8159" y="5297423"/>
            <a:ext cx="4945380" cy="887094"/>
          </a:xfrm>
          <a:custGeom>
            <a:avLst/>
            <a:gdLst/>
            <a:ahLst/>
            <a:cxnLst/>
            <a:rect l="l" t="t" r="r" b="b"/>
            <a:pathLst>
              <a:path w="4945380" h="887095">
                <a:moveTo>
                  <a:pt x="4856734" y="0"/>
                </a:moveTo>
                <a:lnTo>
                  <a:pt x="88696" y="0"/>
                </a:lnTo>
                <a:lnTo>
                  <a:pt x="54172" y="6975"/>
                </a:lnTo>
                <a:lnTo>
                  <a:pt x="25979" y="25987"/>
                </a:lnTo>
                <a:lnTo>
                  <a:pt x="6970" y="54167"/>
                </a:lnTo>
                <a:lnTo>
                  <a:pt x="0" y="88645"/>
                </a:lnTo>
                <a:lnTo>
                  <a:pt x="0" y="798271"/>
                </a:lnTo>
                <a:lnTo>
                  <a:pt x="6970" y="832795"/>
                </a:lnTo>
                <a:lnTo>
                  <a:pt x="25979" y="860988"/>
                </a:lnTo>
                <a:lnTo>
                  <a:pt x="54172" y="879997"/>
                </a:lnTo>
                <a:lnTo>
                  <a:pt x="88696" y="886968"/>
                </a:lnTo>
                <a:lnTo>
                  <a:pt x="4856734" y="886968"/>
                </a:lnTo>
                <a:lnTo>
                  <a:pt x="4891212" y="879997"/>
                </a:lnTo>
                <a:lnTo>
                  <a:pt x="4919392" y="860988"/>
                </a:lnTo>
                <a:lnTo>
                  <a:pt x="4938404" y="832795"/>
                </a:lnTo>
                <a:lnTo>
                  <a:pt x="4945380" y="798271"/>
                </a:lnTo>
                <a:lnTo>
                  <a:pt x="4945380" y="88645"/>
                </a:lnTo>
                <a:lnTo>
                  <a:pt x="4938404" y="54167"/>
                </a:lnTo>
                <a:lnTo>
                  <a:pt x="4919392" y="25987"/>
                </a:lnTo>
                <a:lnTo>
                  <a:pt x="4891212" y="6975"/>
                </a:lnTo>
                <a:lnTo>
                  <a:pt x="4856734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06314" y="5709643"/>
            <a:ext cx="71755" cy="106680"/>
          </a:xfrm>
          <a:custGeom>
            <a:avLst/>
            <a:gdLst/>
            <a:ahLst/>
            <a:cxnLst/>
            <a:rect l="l" t="t" r="r" b="b"/>
            <a:pathLst>
              <a:path w="71755" h="106679">
                <a:moveTo>
                  <a:pt x="57357" y="0"/>
                </a:moveTo>
                <a:lnTo>
                  <a:pt x="0" y="57339"/>
                </a:lnTo>
                <a:lnTo>
                  <a:pt x="48927" y="106250"/>
                </a:lnTo>
                <a:lnTo>
                  <a:pt x="63103" y="92074"/>
                </a:lnTo>
                <a:lnTo>
                  <a:pt x="28427" y="57339"/>
                </a:lnTo>
                <a:lnTo>
                  <a:pt x="71521" y="14171"/>
                </a:lnTo>
                <a:lnTo>
                  <a:pt x="57357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06314" y="5709643"/>
            <a:ext cx="71755" cy="106680"/>
          </a:xfrm>
          <a:custGeom>
            <a:avLst/>
            <a:gdLst/>
            <a:ahLst/>
            <a:cxnLst/>
            <a:rect l="l" t="t" r="r" b="b"/>
            <a:pathLst>
              <a:path w="71755" h="106679">
                <a:moveTo>
                  <a:pt x="48927" y="106250"/>
                </a:moveTo>
                <a:lnTo>
                  <a:pt x="0" y="57339"/>
                </a:lnTo>
                <a:lnTo>
                  <a:pt x="57357" y="0"/>
                </a:lnTo>
                <a:lnTo>
                  <a:pt x="71521" y="14171"/>
                </a:lnTo>
                <a:lnTo>
                  <a:pt x="28427" y="57339"/>
                </a:lnTo>
                <a:lnTo>
                  <a:pt x="63103" y="92074"/>
                </a:lnTo>
              </a:path>
            </a:pathLst>
          </a:custGeom>
          <a:ln w="5860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32818" y="5707864"/>
            <a:ext cx="25400" cy="30480"/>
          </a:xfrm>
          <a:custGeom>
            <a:avLst/>
            <a:gdLst/>
            <a:ahLst/>
            <a:cxnLst/>
            <a:rect l="l" t="t" r="r" b="b"/>
            <a:pathLst>
              <a:path w="25400" h="30479">
                <a:moveTo>
                  <a:pt x="12613" y="0"/>
                </a:moveTo>
                <a:lnTo>
                  <a:pt x="0" y="30455"/>
                </a:lnTo>
                <a:lnTo>
                  <a:pt x="25226" y="5229"/>
                </a:lnTo>
                <a:lnTo>
                  <a:pt x="12613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32818" y="5707864"/>
            <a:ext cx="25400" cy="30480"/>
          </a:xfrm>
          <a:custGeom>
            <a:avLst/>
            <a:gdLst/>
            <a:ahLst/>
            <a:cxnLst/>
            <a:rect l="l" t="t" r="r" b="b"/>
            <a:pathLst>
              <a:path w="25400" h="30479">
                <a:moveTo>
                  <a:pt x="0" y="30455"/>
                </a:moveTo>
                <a:lnTo>
                  <a:pt x="12613" y="0"/>
                </a:lnTo>
                <a:lnTo>
                  <a:pt x="25226" y="5229"/>
                </a:lnTo>
              </a:path>
            </a:pathLst>
          </a:custGeom>
          <a:ln w="5860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0122" y="5586070"/>
            <a:ext cx="354965" cy="311785"/>
          </a:xfrm>
          <a:custGeom>
            <a:avLst/>
            <a:gdLst/>
            <a:ahLst/>
            <a:cxnLst/>
            <a:rect l="l" t="t" r="r" b="b"/>
            <a:pathLst>
              <a:path w="354965" h="311785">
                <a:moveTo>
                  <a:pt x="354949" y="0"/>
                </a:moveTo>
                <a:lnTo>
                  <a:pt x="0" y="0"/>
                </a:lnTo>
                <a:lnTo>
                  <a:pt x="0" y="311571"/>
                </a:lnTo>
                <a:lnTo>
                  <a:pt x="43369" y="311571"/>
                </a:lnTo>
                <a:lnTo>
                  <a:pt x="73522" y="281419"/>
                </a:lnTo>
                <a:lnTo>
                  <a:pt x="30135" y="281419"/>
                </a:lnTo>
                <a:lnTo>
                  <a:pt x="30135" y="80405"/>
                </a:lnTo>
                <a:lnTo>
                  <a:pt x="274541" y="80405"/>
                </a:lnTo>
                <a:lnTo>
                  <a:pt x="304694" y="50253"/>
                </a:lnTo>
                <a:lnTo>
                  <a:pt x="270692" y="50253"/>
                </a:lnTo>
                <a:lnTo>
                  <a:pt x="266197" y="45755"/>
                </a:lnTo>
                <a:lnTo>
                  <a:pt x="266196" y="34654"/>
                </a:lnTo>
                <a:lnTo>
                  <a:pt x="270692" y="30152"/>
                </a:lnTo>
                <a:lnTo>
                  <a:pt x="324796" y="30152"/>
                </a:lnTo>
                <a:lnTo>
                  <a:pt x="354949" y="0"/>
                </a:lnTo>
                <a:close/>
              </a:path>
              <a:path w="354965" h="311785">
                <a:moveTo>
                  <a:pt x="305850" y="30152"/>
                </a:moveTo>
                <a:lnTo>
                  <a:pt x="281792" y="30152"/>
                </a:lnTo>
                <a:lnTo>
                  <a:pt x="286287" y="34654"/>
                </a:lnTo>
                <a:lnTo>
                  <a:pt x="286287" y="45755"/>
                </a:lnTo>
                <a:lnTo>
                  <a:pt x="281792" y="50253"/>
                </a:lnTo>
                <a:lnTo>
                  <a:pt x="304694" y="50253"/>
                </a:lnTo>
                <a:lnTo>
                  <a:pt x="305272" y="49675"/>
                </a:lnTo>
                <a:lnTo>
                  <a:pt x="301355" y="45755"/>
                </a:lnTo>
                <a:lnTo>
                  <a:pt x="301355" y="34654"/>
                </a:lnTo>
                <a:lnTo>
                  <a:pt x="305850" y="30152"/>
                </a:lnTo>
                <a:close/>
              </a:path>
              <a:path w="354965" h="311785">
                <a:moveTo>
                  <a:pt x="324796" y="30152"/>
                </a:moveTo>
                <a:lnTo>
                  <a:pt x="316950" y="30152"/>
                </a:lnTo>
                <a:lnTo>
                  <a:pt x="320870" y="34077"/>
                </a:lnTo>
                <a:lnTo>
                  <a:pt x="324796" y="30152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30122" y="5586070"/>
            <a:ext cx="43815" cy="311785"/>
          </a:xfrm>
          <a:custGeom>
            <a:avLst/>
            <a:gdLst/>
            <a:ahLst/>
            <a:cxnLst/>
            <a:rect l="l" t="t" r="r" b="b"/>
            <a:pathLst>
              <a:path w="43815" h="311785">
                <a:moveTo>
                  <a:pt x="0" y="0"/>
                </a:moveTo>
                <a:lnTo>
                  <a:pt x="0" y="311571"/>
                </a:lnTo>
                <a:lnTo>
                  <a:pt x="43369" y="311571"/>
                </a:lnTo>
              </a:path>
            </a:pathLst>
          </a:custGeom>
          <a:ln w="5859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0122" y="5586070"/>
            <a:ext cx="354965" cy="0"/>
          </a:xfrm>
          <a:custGeom>
            <a:avLst/>
            <a:gdLst/>
            <a:ahLst/>
            <a:cxnLst/>
            <a:rect l="l" t="t" r="r" b="b"/>
            <a:pathLst>
              <a:path w="354965">
                <a:moveTo>
                  <a:pt x="354949" y="0"/>
                </a:moveTo>
                <a:lnTo>
                  <a:pt x="0" y="0"/>
                </a:lnTo>
              </a:path>
            </a:pathLst>
          </a:custGeom>
          <a:ln w="586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131477" y="5616222"/>
            <a:ext cx="10160" cy="19685"/>
          </a:xfrm>
          <a:custGeom>
            <a:avLst/>
            <a:gdLst/>
            <a:ahLst/>
            <a:cxnLst/>
            <a:rect l="l" t="t" r="r" b="b"/>
            <a:pathLst>
              <a:path w="10159" h="19685">
                <a:moveTo>
                  <a:pt x="3917" y="19523"/>
                </a:moveTo>
                <a:lnTo>
                  <a:pt x="0" y="15603"/>
                </a:lnTo>
                <a:lnTo>
                  <a:pt x="0" y="10050"/>
                </a:lnTo>
                <a:lnTo>
                  <a:pt x="0" y="4501"/>
                </a:lnTo>
                <a:lnTo>
                  <a:pt x="4495" y="0"/>
                </a:lnTo>
                <a:lnTo>
                  <a:pt x="10045" y="0"/>
                </a:lnTo>
              </a:path>
            </a:pathLst>
          </a:custGeom>
          <a:ln w="5860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96319" y="561622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19" h="20320">
                <a:moveTo>
                  <a:pt x="10045" y="0"/>
                </a:moveTo>
                <a:lnTo>
                  <a:pt x="15595" y="0"/>
                </a:lnTo>
                <a:lnTo>
                  <a:pt x="20090" y="4501"/>
                </a:lnTo>
                <a:lnTo>
                  <a:pt x="20090" y="10050"/>
                </a:lnTo>
                <a:lnTo>
                  <a:pt x="20090" y="15603"/>
                </a:lnTo>
                <a:lnTo>
                  <a:pt x="15595" y="20101"/>
                </a:lnTo>
                <a:lnTo>
                  <a:pt x="10045" y="20101"/>
                </a:lnTo>
                <a:lnTo>
                  <a:pt x="4495" y="20101"/>
                </a:lnTo>
                <a:lnTo>
                  <a:pt x="0" y="15603"/>
                </a:lnTo>
                <a:lnTo>
                  <a:pt x="0" y="10050"/>
                </a:lnTo>
                <a:lnTo>
                  <a:pt x="0" y="4501"/>
                </a:lnTo>
                <a:lnTo>
                  <a:pt x="4495" y="0"/>
                </a:lnTo>
                <a:lnTo>
                  <a:pt x="10045" y="0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60257" y="5666475"/>
            <a:ext cx="244475" cy="201295"/>
          </a:xfrm>
          <a:custGeom>
            <a:avLst/>
            <a:gdLst/>
            <a:ahLst/>
            <a:cxnLst/>
            <a:rect l="l" t="t" r="r" b="b"/>
            <a:pathLst>
              <a:path w="244475" h="201295">
                <a:moveTo>
                  <a:pt x="43387" y="201013"/>
                </a:moveTo>
                <a:lnTo>
                  <a:pt x="0" y="201013"/>
                </a:lnTo>
                <a:lnTo>
                  <a:pt x="0" y="0"/>
                </a:lnTo>
                <a:lnTo>
                  <a:pt x="244405" y="0"/>
                </a:lnTo>
              </a:path>
            </a:pathLst>
          </a:custGeom>
          <a:ln w="58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6383" y="5497067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79">
                <a:moveTo>
                  <a:pt x="0" y="487679"/>
                </a:moveTo>
                <a:lnTo>
                  <a:pt x="487679" y="487679"/>
                </a:lnTo>
                <a:lnTo>
                  <a:pt x="487679" y="0"/>
                </a:lnTo>
                <a:lnTo>
                  <a:pt x="0" y="0"/>
                </a:lnTo>
                <a:lnTo>
                  <a:pt x="0" y="48767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624075" y="5583732"/>
            <a:ext cx="170878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60" dirty="0">
                <a:latin typeface="Arial"/>
                <a:cs typeface="Arial"/>
              </a:rPr>
              <a:t>UI/UX</a:t>
            </a:r>
            <a:r>
              <a:rPr sz="1900" spc="-200" dirty="0">
                <a:latin typeface="Arial"/>
                <a:cs typeface="Arial"/>
              </a:rPr>
              <a:t> </a:t>
            </a:r>
            <a:r>
              <a:rPr sz="1900" spc="-45" dirty="0">
                <a:latin typeface="Arial"/>
                <a:cs typeface="Arial"/>
              </a:rPr>
              <a:t>Designing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662928" y="6233159"/>
            <a:ext cx="5020310" cy="0"/>
          </a:xfrm>
          <a:custGeom>
            <a:avLst/>
            <a:gdLst/>
            <a:ahLst/>
            <a:cxnLst/>
            <a:rect l="l" t="t" r="r" b="b"/>
            <a:pathLst>
              <a:path w="5020309">
                <a:moveTo>
                  <a:pt x="0" y="0"/>
                </a:moveTo>
                <a:lnTo>
                  <a:pt x="5020056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707379" y="2071116"/>
            <a:ext cx="6237732" cy="3957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0428731" y="0"/>
            <a:ext cx="1245107" cy="815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D7D4DE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595" y="981202"/>
            <a:ext cx="3884295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130" dirty="0">
                <a:latin typeface="Arial"/>
                <a:cs typeface="Arial"/>
              </a:rPr>
              <a:t>User</a:t>
            </a:r>
            <a:r>
              <a:rPr b="1" spc="-229" dirty="0">
                <a:latin typeface="Arial"/>
                <a:cs typeface="Arial"/>
              </a:rPr>
              <a:t> </a:t>
            </a:r>
            <a:r>
              <a:rPr b="1" spc="-114" dirty="0">
                <a:latin typeface="Arial"/>
                <a:cs typeface="Arial"/>
              </a:rPr>
              <a:t>Stories</a:t>
            </a:r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088" y="3691077"/>
            <a:ext cx="4991100" cy="2990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8159" y="3886200"/>
            <a:ext cx="4421124" cy="242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6595" y="2051177"/>
            <a:ext cx="3774440" cy="140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Definition</a:t>
            </a:r>
            <a:r>
              <a:rPr sz="2000" spc="-2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of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User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15" dirty="0">
                <a:latin typeface="Tahoma"/>
                <a:cs typeface="Tahoma"/>
              </a:rPr>
              <a:t>Stories:</a:t>
            </a:r>
            <a:endParaRPr sz="2000">
              <a:latin typeface="Tahoma"/>
              <a:cs typeface="Tahoma"/>
            </a:endParaRPr>
          </a:p>
          <a:p>
            <a:pPr marL="287020" marR="5080" indent="-274320">
              <a:lnSpc>
                <a:spcPct val="11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000" spc="-10" dirty="0">
                <a:latin typeface="Tahoma"/>
                <a:cs typeface="Tahoma"/>
              </a:rPr>
              <a:t>Short,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50" dirty="0">
                <a:latin typeface="Tahoma"/>
                <a:cs typeface="Tahoma"/>
              </a:rPr>
              <a:t>concise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25" dirty="0">
                <a:latin typeface="Tahoma"/>
                <a:cs typeface="Tahoma"/>
              </a:rPr>
              <a:t>descriptions</a:t>
            </a:r>
            <a:r>
              <a:rPr sz="2000" spc="-229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of</a:t>
            </a:r>
            <a:r>
              <a:rPr sz="2000" spc="-22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a  </a:t>
            </a:r>
            <a:r>
              <a:rPr sz="2000" spc="-20" dirty="0">
                <a:latin typeface="Tahoma"/>
                <a:cs typeface="Tahoma"/>
              </a:rPr>
              <a:t>feature or </a:t>
            </a:r>
            <a:r>
              <a:rPr sz="2000" spc="5" dirty="0">
                <a:latin typeface="Tahoma"/>
                <a:cs typeface="Tahoma"/>
              </a:rPr>
              <a:t>functionality </a:t>
            </a:r>
            <a:r>
              <a:rPr sz="2000" spc="-20" dirty="0">
                <a:latin typeface="Tahoma"/>
                <a:cs typeface="Tahoma"/>
              </a:rPr>
              <a:t>from  </a:t>
            </a:r>
            <a:r>
              <a:rPr sz="2000" spc="-10" dirty="0">
                <a:latin typeface="Tahoma"/>
                <a:cs typeface="Tahoma"/>
              </a:rPr>
              <a:t>the </a:t>
            </a:r>
            <a:r>
              <a:rPr sz="2000" spc="10" dirty="0">
                <a:latin typeface="Tahoma"/>
                <a:cs typeface="Tahoma"/>
              </a:rPr>
              <a:t>user's</a:t>
            </a:r>
            <a:r>
              <a:rPr sz="2000" spc="-440" dirty="0">
                <a:latin typeface="Tahoma"/>
                <a:cs typeface="Tahoma"/>
              </a:rPr>
              <a:t> </a:t>
            </a:r>
            <a:r>
              <a:rPr sz="2000" spc="10" dirty="0">
                <a:latin typeface="Tahoma"/>
                <a:cs typeface="Tahoma"/>
              </a:rPr>
              <a:t>perspective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28204" y="6204965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72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63256" y="108204"/>
            <a:ext cx="2977896" cy="3669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30568" y="3886197"/>
            <a:ext cx="4843272" cy="28833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41152" y="0"/>
            <a:ext cx="1245107" cy="835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E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5021580" cy="149860"/>
          </a:xfrm>
          <a:custGeom>
            <a:avLst/>
            <a:gdLst/>
            <a:ahLst/>
            <a:cxnLst/>
            <a:rect l="l" t="t" r="r" b="b"/>
            <a:pathLst>
              <a:path w="5021580" h="149859">
                <a:moveTo>
                  <a:pt x="0" y="149351"/>
                </a:moveTo>
                <a:lnTo>
                  <a:pt x="5021580" y="149351"/>
                </a:lnTo>
                <a:lnTo>
                  <a:pt x="50215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6595" y="980185"/>
            <a:ext cx="3891279" cy="170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114" dirty="0">
                <a:latin typeface="Arial"/>
                <a:cs typeface="Arial"/>
              </a:rPr>
              <a:t>User</a:t>
            </a:r>
            <a:r>
              <a:rPr b="1" spc="-210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Stories</a:t>
            </a:r>
          </a:p>
          <a:p>
            <a:pPr marL="12700">
              <a:lnSpc>
                <a:spcPct val="100000"/>
              </a:lnSpc>
            </a:pPr>
            <a:r>
              <a:rPr b="1" spc="-150" dirty="0">
                <a:latin typeface="Arial"/>
                <a:cs typeface="Arial"/>
              </a:rPr>
              <a:t>Examples</a:t>
            </a:r>
          </a:p>
        </p:txBody>
      </p:sp>
      <p:sp>
        <p:nvSpPr>
          <p:cNvPr id="5" name="object 5"/>
          <p:cNvSpPr/>
          <p:nvPr/>
        </p:nvSpPr>
        <p:spPr>
          <a:xfrm>
            <a:off x="7276338" y="1446275"/>
            <a:ext cx="1111250" cy="304800"/>
          </a:xfrm>
          <a:custGeom>
            <a:avLst/>
            <a:gdLst/>
            <a:ahLst/>
            <a:cxnLst/>
            <a:rect l="l" t="t" r="r" b="b"/>
            <a:pathLst>
              <a:path w="1111250" h="304800">
                <a:moveTo>
                  <a:pt x="0" y="304800"/>
                </a:moveTo>
                <a:lnTo>
                  <a:pt x="1110996" y="304800"/>
                </a:lnTo>
                <a:lnTo>
                  <a:pt x="1110996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08997" y="1446275"/>
            <a:ext cx="1833880" cy="304800"/>
          </a:xfrm>
          <a:custGeom>
            <a:avLst/>
            <a:gdLst/>
            <a:ahLst/>
            <a:cxnLst/>
            <a:rect l="l" t="t" r="r" b="b"/>
            <a:pathLst>
              <a:path w="1833879" h="304800">
                <a:moveTo>
                  <a:pt x="0" y="304800"/>
                </a:moveTo>
                <a:lnTo>
                  <a:pt x="1833372" y="304800"/>
                </a:lnTo>
                <a:lnTo>
                  <a:pt x="1833372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53606" y="1751076"/>
            <a:ext cx="3994785" cy="304800"/>
          </a:xfrm>
          <a:custGeom>
            <a:avLst/>
            <a:gdLst/>
            <a:ahLst/>
            <a:cxnLst/>
            <a:rect l="l" t="t" r="r" b="b"/>
            <a:pathLst>
              <a:path w="3994784" h="304800">
                <a:moveTo>
                  <a:pt x="0" y="304800"/>
                </a:moveTo>
                <a:lnTo>
                  <a:pt x="3994404" y="304800"/>
                </a:lnTo>
                <a:lnTo>
                  <a:pt x="3994404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116818" y="1751076"/>
            <a:ext cx="494030" cy="304800"/>
          </a:xfrm>
          <a:custGeom>
            <a:avLst/>
            <a:gdLst/>
            <a:ahLst/>
            <a:cxnLst/>
            <a:rect l="l" t="t" r="r" b="b"/>
            <a:pathLst>
              <a:path w="494029" h="304800">
                <a:moveTo>
                  <a:pt x="0" y="304800"/>
                </a:moveTo>
                <a:lnTo>
                  <a:pt x="493775" y="304800"/>
                </a:lnTo>
                <a:lnTo>
                  <a:pt x="49377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53606" y="2360676"/>
            <a:ext cx="1069975" cy="304800"/>
          </a:xfrm>
          <a:custGeom>
            <a:avLst/>
            <a:gdLst/>
            <a:ahLst/>
            <a:cxnLst/>
            <a:rect l="l" t="t" r="r" b="b"/>
            <a:pathLst>
              <a:path w="1069975" h="304800">
                <a:moveTo>
                  <a:pt x="0" y="304800"/>
                </a:moveTo>
                <a:lnTo>
                  <a:pt x="1069848" y="304800"/>
                </a:lnTo>
                <a:lnTo>
                  <a:pt x="1069848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41668" y="1000505"/>
            <a:ext cx="131508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0" dirty="0">
                <a:latin typeface="Arial"/>
                <a:cs typeface="Arial"/>
              </a:rPr>
              <a:t>Example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1: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1668" y="1431797"/>
            <a:ext cx="455993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5" dirty="0">
                <a:latin typeface="Tahoma"/>
                <a:cs typeface="Tahoma"/>
              </a:rPr>
              <a:t>As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a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job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seeker,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225" dirty="0">
                <a:latin typeface="Tahoma"/>
                <a:cs typeface="Tahoma"/>
              </a:rPr>
              <a:t>I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want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to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spc="20" dirty="0">
                <a:latin typeface="Tahoma"/>
                <a:cs typeface="Tahoma"/>
              </a:rPr>
              <a:t>search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and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filter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1668" y="1736597"/>
            <a:ext cx="482854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latin typeface="Tahoma"/>
                <a:cs typeface="Tahoma"/>
              </a:rPr>
              <a:t>job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listings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20" dirty="0">
                <a:latin typeface="Tahoma"/>
                <a:cs typeface="Tahoma"/>
              </a:rPr>
              <a:t>based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my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preferences</a:t>
            </a:r>
            <a:r>
              <a:rPr sz="2000" spc="-225" dirty="0">
                <a:latin typeface="Tahoma"/>
                <a:cs typeface="Tahoma"/>
              </a:rPr>
              <a:t> </a:t>
            </a:r>
            <a:r>
              <a:rPr sz="2000" spc="40" dirty="0">
                <a:latin typeface="Tahoma"/>
                <a:cs typeface="Tahoma"/>
              </a:rPr>
              <a:t>so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15" dirty="0">
                <a:latin typeface="Tahoma"/>
                <a:cs typeface="Tahoma"/>
              </a:rPr>
              <a:t>that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3606" y="2055876"/>
            <a:ext cx="3931920" cy="30480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290"/>
              </a:lnSpc>
            </a:pPr>
            <a:r>
              <a:rPr sz="2000" spc="-225" dirty="0">
                <a:latin typeface="Tahoma"/>
                <a:cs typeface="Tahoma"/>
              </a:rPr>
              <a:t>I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40" dirty="0">
                <a:latin typeface="Tahoma"/>
                <a:cs typeface="Tahoma"/>
              </a:rPr>
              <a:t>can</a:t>
            </a:r>
            <a:r>
              <a:rPr sz="2000" spc="-2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find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15" dirty="0">
                <a:latin typeface="Tahoma"/>
                <a:cs typeface="Tahoma"/>
              </a:rPr>
              <a:t>relevant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job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5" dirty="0">
                <a:latin typeface="Tahoma"/>
                <a:cs typeface="Tahoma"/>
              </a:rPr>
              <a:t>opportunities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1668" y="2346578"/>
            <a:ext cx="1168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Tahoma"/>
                <a:cs typeface="Tahoma"/>
              </a:rPr>
              <a:t>efficiently.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40194" y="3950970"/>
            <a:ext cx="467995" cy="304800"/>
          </a:xfrm>
          <a:custGeom>
            <a:avLst/>
            <a:gdLst/>
            <a:ahLst/>
            <a:cxnLst/>
            <a:rect l="l" t="t" r="r" b="b"/>
            <a:pathLst>
              <a:path w="467995" h="304800">
                <a:moveTo>
                  <a:pt x="0" y="304799"/>
                </a:moveTo>
                <a:lnTo>
                  <a:pt x="467868" y="304799"/>
                </a:lnTo>
                <a:lnTo>
                  <a:pt x="467868" y="0"/>
                </a:lnTo>
                <a:lnTo>
                  <a:pt x="0" y="0"/>
                </a:lnTo>
                <a:lnTo>
                  <a:pt x="0" y="304799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78722" y="3950970"/>
            <a:ext cx="993775" cy="304800"/>
          </a:xfrm>
          <a:custGeom>
            <a:avLst/>
            <a:gdLst/>
            <a:ahLst/>
            <a:cxnLst/>
            <a:rect l="l" t="t" r="r" b="b"/>
            <a:pathLst>
              <a:path w="993775" h="304800">
                <a:moveTo>
                  <a:pt x="0" y="304799"/>
                </a:moveTo>
                <a:lnTo>
                  <a:pt x="993648" y="304799"/>
                </a:lnTo>
                <a:lnTo>
                  <a:pt x="993648" y="0"/>
                </a:lnTo>
                <a:lnTo>
                  <a:pt x="0" y="0"/>
                </a:lnTo>
                <a:lnTo>
                  <a:pt x="0" y="3047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34270" y="4255770"/>
            <a:ext cx="810895" cy="304800"/>
          </a:xfrm>
          <a:custGeom>
            <a:avLst/>
            <a:gdLst/>
            <a:ahLst/>
            <a:cxnLst/>
            <a:rect l="l" t="t" r="r" b="b"/>
            <a:pathLst>
              <a:path w="810895" h="304800">
                <a:moveTo>
                  <a:pt x="0" y="304799"/>
                </a:moveTo>
                <a:lnTo>
                  <a:pt x="810768" y="304799"/>
                </a:lnTo>
                <a:lnTo>
                  <a:pt x="810768" y="0"/>
                </a:lnTo>
                <a:lnTo>
                  <a:pt x="0" y="0"/>
                </a:lnTo>
                <a:lnTo>
                  <a:pt x="0" y="304799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28256" y="3327400"/>
            <a:ext cx="4673600" cy="2162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0" dirty="0">
                <a:latin typeface="Arial"/>
                <a:cs typeface="Arial"/>
              </a:rPr>
              <a:t>Example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2: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45" dirty="0">
                <a:latin typeface="Tahoma"/>
                <a:cs typeface="Tahoma"/>
              </a:rPr>
              <a:t>As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a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job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provider,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225" dirty="0">
                <a:latin typeface="Tahoma"/>
                <a:cs typeface="Tahoma"/>
              </a:rPr>
              <a:t>I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want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to</a:t>
            </a:r>
            <a:r>
              <a:rPr sz="2000" spc="-185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post</a:t>
            </a:r>
            <a:r>
              <a:rPr sz="2000" spc="-19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job</a:t>
            </a:r>
            <a:r>
              <a:rPr sz="2000" spc="-1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listings  </a:t>
            </a:r>
            <a:r>
              <a:rPr sz="2000" spc="-15" dirty="0">
                <a:latin typeface="Tahoma"/>
                <a:cs typeface="Tahoma"/>
              </a:rPr>
              <a:t>with </a:t>
            </a:r>
            <a:r>
              <a:rPr sz="2000" spc="15" dirty="0">
                <a:latin typeface="Tahoma"/>
                <a:cs typeface="Tahoma"/>
              </a:rPr>
              <a:t>detailed </a:t>
            </a:r>
            <a:r>
              <a:rPr sz="2000" spc="25" dirty="0">
                <a:latin typeface="Tahoma"/>
                <a:cs typeface="Tahoma"/>
              </a:rPr>
              <a:t>descriptions </a:t>
            </a:r>
            <a:r>
              <a:rPr sz="2000" spc="40" dirty="0">
                <a:latin typeface="Tahoma"/>
                <a:cs typeface="Tahoma"/>
              </a:rPr>
              <a:t>so </a:t>
            </a:r>
            <a:r>
              <a:rPr sz="2000" spc="-15" dirty="0">
                <a:latin typeface="Tahoma"/>
                <a:cs typeface="Tahoma"/>
              </a:rPr>
              <a:t>that </a:t>
            </a:r>
            <a:r>
              <a:rPr sz="2000" spc="-225" dirty="0">
                <a:latin typeface="Tahoma"/>
                <a:cs typeface="Tahoma"/>
              </a:rPr>
              <a:t>I </a:t>
            </a:r>
            <a:r>
              <a:rPr sz="2000" spc="40" dirty="0">
                <a:latin typeface="Tahoma"/>
                <a:cs typeface="Tahoma"/>
              </a:rPr>
              <a:t>can  </a:t>
            </a:r>
            <a:r>
              <a:rPr sz="2000" spc="-5" dirty="0">
                <a:latin typeface="Tahoma"/>
                <a:cs typeface="Tahoma"/>
              </a:rPr>
              <a:t>attract </a:t>
            </a:r>
            <a:r>
              <a:rPr sz="2000" spc="10" dirty="0">
                <a:latin typeface="Tahoma"/>
                <a:cs typeface="Tahoma"/>
              </a:rPr>
              <a:t>qualified </a:t>
            </a:r>
            <a:r>
              <a:rPr sz="2000" spc="20" dirty="0">
                <a:latin typeface="Tahoma"/>
                <a:cs typeface="Tahoma"/>
              </a:rPr>
              <a:t>candidates </a:t>
            </a:r>
            <a:r>
              <a:rPr sz="2000" spc="5" dirty="0">
                <a:latin typeface="Tahoma"/>
                <a:cs typeface="Tahoma"/>
              </a:rPr>
              <a:t>and </a:t>
            </a:r>
            <a:r>
              <a:rPr sz="2000" spc="-5" dirty="0">
                <a:latin typeface="Tahoma"/>
                <a:cs typeface="Tahoma"/>
              </a:rPr>
              <a:t>ensure  </a:t>
            </a:r>
            <a:r>
              <a:rPr sz="2000" spc="-30" dirty="0">
                <a:latin typeface="Tahoma"/>
                <a:cs typeface="Tahoma"/>
              </a:rPr>
              <a:t>they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have</a:t>
            </a:r>
            <a:r>
              <a:rPr sz="2000" spc="-229" dirty="0">
                <a:latin typeface="Tahoma"/>
                <a:cs typeface="Tahoma"/>
              </a:rPr>
              <a:t> </a:t>
            </a:r>
            <a:r>
              <a:rPr sz="2000" spc="15" dirty="0">
                <a:latin typeface="Tahoma"/>
                <a:cs typeface="Tahoma"/>
              </a:rPr>
              <a:t>a</a:t>
            </a:r>
            <a:r>
              <a:rPr sz="2000" spc="-200" dirty="0">
                <a:latin typeface="Tahoma"/>
                <a:cs typeface="Tahoma"/>
              </a:rPr>
              <a:t> </a:t>
            </a:r>
            <a:r>
              <a:rPr sz="2000" spc="30" dirty="0">
                <a:latin typeface="Tahoma"/>
                <a:cs typeface="Tahoma"/>
              </a:rPr>
              <a:t>clear</a:t>
            </a:r>
            <a:r>
              <a:rPr sz="2000" spc="-2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understanding</a:t>
            </a:r>
            <a:r>
              <a:rPr sz="2000" spc="-2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of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the</a:t>
            </a:r>
            <a:r>
              <a:rPr sz="2000" spc="-21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job  </a:t>
            </a:r>
            <a:r>
              <a:rPr sz="2000" spc="-10" dirty="0">
                <a:latin typeface="Tahoma"/>
                <a:cs typeface="Tahoma"/>
              </a:rPr>
              <a:t>requirements.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9347" y="2881883"/>
            <a:ext cx="3773424" cy="3774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22280" y="0"/>
            <a:ext cx="1245107" cy="835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983234"/>
            <a:ext cx="482727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290" dirty="0">
                <a:latin typeface="Arial"/>
                <a:cs typeface="Arial"/>
              </a:rPr>
              <a:t>INVEST</a:t>
            </a:r>
            <a:r>
              <a:rPr b="1" spc="-220" dirty="0">
                <a:latin typeface="Arial"/>
                <a:cs typeface="Arial"/>
              </a:rPr>
              <a:t> </a:t>
            </a:r>
            <a:r>
              <a:rPr b="1" spc="-35" dirty="0">
                <a:latin typeface="Arial"/>
                <a:cs typeface="Arial"/>
              </a:rPr>
              <a:t>Criteria</a:t>
            </a:r>
          </a:p>
        </p:txBody>
      </p:sp>
      <p:sp>
        <p:nvSpPr>
          <p:cNvPr id="3" name="object 3"/>
          <p:cNvSpPr/>
          <p:nvPr/>
        </p:nvSpPr>
        <p:spPr>
          <a:xfrm>
            <a:off x="5759196" y="979932"/>
            <a:ext cx="5915025" cy="782320"/>
          </a:xfrm>
          <a:custGeom>
            <a:avLst/>
            <a:gdLst/>
            <a:ahLst/>
            <a:cxnLst/>
            <a:rect l="l" t="t" r="r" b="b"/>
            <a:pathLst>
              <a:path w="5915025" h="782319">
                <a:moveTo>
                  <a:pt x="5836411" y="0"/>
                </a:moveTo>
                <a:lnTo>
                  <a:pt x="78231" y="0"/>
                </a:lnTo>
                <a:lnTo>
                  <a:pt x="47791" y="6151"/>
                </a:lnTo>
                <a:lnTo>
                  <a:pt x="22923" y="22923"/>
                </a:lnTo>
                <a:lnTo>
                  <a:pt x="6151" y="47791"/>
                </a:lnTo>
                <a:lnTo>
                  <a:pt x="0" y="78231"/>
                </a:lnTo>
                <a:lnTo>
                  <a:pt x="0" y="703579"/>
                </a:lnTo>
                <a:lnTo>
                  <a:pt x="6151" y="734020"/>
                </a:lnTo>
                <a:lnTo>
                  <a:pt x="22923" y="758888"/>
                </a:lnTo>
                <a:lnTo>
                  <a:pt x="47791" y="775660"/>
                </a:lnTo>
                <a:lnTo>
                  <a:pt x="78231" y="781812"/>
                </a:lnTo>
                <a:lnTo>
                  <a:pt x="5836411" y="781812"/>
                </a:lnTo>
                <a:lnTo>
                  <a:pt x="5866852" y="775660"/>
                </a:lnTo>
                <a:lnTo>
                  <a:pt x="5891720" y="758888"/>
                </a:lnTo>
                <a:lnTo>
                  <a:pt x="5908492" y="734020"/>
                </a:lnTo>
                <a:lnTo>
                  <a:pt x="5914644" y="703579"/>
                </a:lnTo>
                <a:lnTo>
                  <a:pt x="5914644" y="78231"/>
                </a:lnTo>
                <a:lnTo>
                  <a:pt x="5908492" y="47791"/>
                </a:lnTo>
                <a:lnTo>
                  <a:pt x="5891720" y="22923"/>
                </a:lnTo>
                <a:lnTo>
                  <a:pt x="5866852" y="6151"/>
                </a:lnTo>
                <a:lnTo>
                  <a:pt x="5836411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44682" y="1211643"/>
            <a:ext cx="203200" cy="289560"/>
          </a:xfrm>
          <a:custGeom>
            <a:avLst/>
            <a:gdLst/>
            <a:ahLst/>
            <a:cxnLst/>
            <a:rect l="l" t="t" r="r" b="b"/>
            <a:pathLst>
              <a:path w="203200" h="289559">
                <a:moveTo>
                  <a:pt x="111590" y="143766"/>
                </a:moveTo>
                <a:lnTo>
                  <a:pt x="64921" y="143766"/>
                </a:lnTo>
                <a:lnTo>
                  <a:pt x="113830" y="163695"/>
                </a:lnTo>
                <a:lnTo>
                  <a:pt x="112689" y="175375"/>
                </a:lnTo>
                <a:lnTo>
                  <a:pt x="114019" y="186906"/>
                </a:lnTo>
                <a:lnTo>
                  <a:pt x="117733" y="197904"/>
                </a:lnTo>
                <a:lnTo>
                  <a:pt x="120878" y="203175"/>
                </a:lnTo>
                <a:lnTo>
                  <a:pt x="155632" y="168422"/>
                </a:lnTo>
                <a:lnTo>
                  <a:pt x="152825" y="165614"/>
                </a:lnTo>
                <a:lnTo>
                  <a:pt x="152825" y="148490"/>
                </a:lnTo>
                <a:lnTo>
                  <a:pt x="153961" y="147353"/>
                </a:lnTo>
                <a:lnTo>
                  <a:pt x="120160" y="147353"/>
                </a:lnTo>
                <a:lnTo>
                  <a:pt x="111590" y="143766"/>
                </a:lnTo>
                <a:close/>
              </a:path>
              <a:path w="203200" h="289559">
                <a:moveTo>
                  <a:pt x="42890" y="84249"/>
                </a:moveTo>
                <a:lnTo>
                  <a:pt x="5274" y="100204"/>
                </a:lnTo>
                <a:lnTo>
                  <a:pt x="0" y="128503"/>
                </a:lnTo>
                <a:lnTo>
                  <a:pt x="5674" y="141552"/>
                </a:lnTo>
                <a:lnTo>
                  <a:pt x="15729" y="151456"/>
                </a:lnTo>
                <a:lnTo>
                  <a:pt x="29338" y="156952"/>
                </a:lnTo>
                <a:lnTo>
                  <a:pt x="39344" y="157439"/>
                </a:lnTo>
                <a:lnTo>
                  <a:pt x="48950" y="155278"/>
                </a:lnTo>
                <a:lnTo>
                  <a:pt x="57646" y="150657"/>
                </a:lnTo>
                <a:lnTo>
                  <a:pt x="64921" y="143766"/>
                </a:lnTo>
                <a:lnTo>
                  <a:pt x="111590" y="143766"/>
                </a:lnTo>
                <a:lnTo>
                  <a:pt x="72446" y="127380"/>
                </a:lnTo>
                <a:lnTo>
                  <a:pt x="72229" y="112697"/>
                </a:lnTo>
                <a:lnTo>
                  <a:pt x="66596" y="99689"/>
                </a:lnTo>
                <a:lnTo>
                  <a:pt x="56499" y="89744"/>
                </a:lnTo>
                <a:lnTo>
                  <a:pt x="42890" y="84249"/>
                </a:lnTo>
                <a:close/>
              </a:path>
              <a:path w="203200" h="289559">
                <a:moveTo>
                  <a:pt x="173240" y="0"/>
                </a:moveTo>
                <a:lnTo>
                  <a:pt x="159199" y="759"/>
                </a:lnTo>
                <a:lnTo>
                  <a:pt x="146548" y="6901"/>
                </a:lnTo>
                <a:lnTo>
                  <a:pt x="137547" y="17068"/>
                </a:lnTo>
                <a:lnTo>
                  <a:pt x="133014" y="29870"/>
                </a:lnTo>
                <a:lnTo>
                  <a:pt x="133767" y="43919"/>
                </a:lnTo>
                <a:lnTo>
                  <a:pt x="137345" y="52706"/>
                </a:lnTo>
                <a:lnTo>
                  <a:pt x="143014" y="60113"/>
                </a:lnTo>
                <a:lnTo>
                  <a:pt x="150417" y="65785"/>
                </a:lnTo>
                <a:lnTo>
                  <a:pt x="159199" y="69365"/>
                </a:lnTo>
                <a:lnTo>
                  <a:pt x="159040" y="120427"/>
                </a:lnTo>
                <a:lnTo>
                  <a:pt x="147211" y="123763"/>
                </a:lnTo>
                <a:lnTo>
                  <a:pt x="136638" y="129462"/>
                </a:lnTo>
                <a:lnTo>
                  <a:pt x="127452" y="137435"/>
                </a:lnTo>
                <a:lnTo>
                  <a:pt x="120160" y="147353"/>
                </a:lnTo>
                <a:lnTo>
                  <a:pt x="153961" y="147353"/>
                </a:lnTo>
                <a:lnTo>
                  <a:pt x="159759" y="141552"/>
                </a:lnTo>
                <a:lnTo>
                  <a:pt x="182502" y="141552"/>
                </a:lnTo>
                <a:lnTo>
                  <a:pt x="196275" y="127779"/>
                </a:lnTo>
                <a:lnTo>
                  <a:pt x="188855" y="123763"/>
                </a:lnTo>
                <a:lnTo>
                  <a:pt x="176904" y="120427"/>
                </a:lnTo>
                <a:lnTo>
                  <a:pt x="176903" y="69365"/>
                </a:lnTo>
                <a:lnTo>
                  <a:pt x="189554" y="63223"/>
                </a:lnTo>
                <a:lnTo>
                  <a:pt x="198555" y="53055"/>
                </a:lnTo>
                <a:lnTo>
                  <a:pt x="203088" y="40253"/>
                </a:lnTo>
                <a:lnTo>
                  <a:pt x="202335" y="26205"/>
                </a:lnTo>
                <a:lnTo>
                  <a:pt x="196196" y="13545"/>
                </a:lnTo>
                <a:lnTo>
                  <a:pt x="186036" y="4536"/>
                </a:lnTo>
                <a:lnTo>
                  <a:pt x="173240" y="0"/>
                </a:lnTo>
                <a:close/>
              </a:path>
              <a:path w="203200" h="289559">
                <a:moveTo>
                  <a:pt x="182502" y="141552"/>
                </a:moveTo>
                <a:lnTo>
                  <a:pt x="176874" y="141552"/>
                </a:lnTo>
                <a:lnTo>
                  <a:pt x="179687" y="144367"/>
                </a:lnTo>
                <a:lnTo>
                  <a:pt x="182502" y="141552"/>
                </a:lnTo>
                <a:close/>
              </a:path>
              <a:path w="203200" h="289559">
                <a:moveTo>
                  <a:pt x="72451" y="241869"/>
                </a:moveTo>
                <a:lnTo>
                  <a:pt x="58899" y="242656"/>
                </a:lnTo>
                <a:lnTo>
                  <a:pt x="46631" y="248469"/>
                </a:lnTo>
                <a:lnTo>
                  <a:pt x="37206" y="258910"/>
                </a:lnTo>
                <a:lnTo>
                  <a:pt x="32568" y="272191"/>
                </a:lnTo>
                <a:lnTo>
                  <a:pt x="33354" y="285751"/>
                </a:lnTo>
                <a:lnTo>
                  <a:pt x="34943" y="289108"/>
                </a:lnTo>
                <a:lnTo>
                  <a:pt x="79662" y="244390"/>
                </a:lnTo>
                <a:lnTo>
                  <a:pt x="72451" y="241869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44465" y="1211643"/>
            <a:ext cx="203835" cy="203200"/>
          </a:xfrm>
          <a:custGeom>
            <a:avLst/>
            <a:gdLst/>
            <a:ahLst/>
            <a:cxnLst/>
            <a:rect l="l" t="t" r="r" b="b"/>
            <a:pathLst>
              <a:path w="203835" h="203200">
                <a:moveTo>
                  <a:pt x="196492" y="127779"/>
                </a:moveTo>
                <a:lnTo>
                  <a:pt x="189072" y="123763"/>
                </a:lnTo>
                <a:lnTo>
                  <a:pt x="177121" y="120427"/>
                </a:lnTo>
                <a:lnTo>
                  <a:pt x="177120" y="69365"/>
                </a:lnTo>
                <a:lnTo>
                  <a:pt x="189771" y="63223"/>
                </a:lnTo>
                <a:lnTo>
                  <a:pt x="198772" y="53055"/>
                </a:lnTo>
                <a:lnTo>
                  <a:pt x="203305" y="40253"/>
                </a:lnTo>
                <a:lnTo>
                  <a:pt x="202552" y="26205"/>
                </a:lnTo>
                <a:lnTo>
                  <a:pt x="196413" y="13545"/>
                </a:lnTo>
                <a:lnTo>
                  <a:pt x="186253" y="4536"/>
                </a:lnTo>
                <a:lnTo>
                  <a:pt x="173457" y="0"/>
                </a:lnTo>
                <a:lnTo>
                  <a:pt x="159416" y="759"/>
                </a:lnTo>
                <a:lnTo>
                  <a:pt x="146765" y="6901"/>
                </a:lnTo>
                <a:lnTo>
                  <a:pt x="137764" y="17068"/>
                </a:lnTo>
                <a:lnTo>
                  <a:pt x="133231" y="29870"/>
                </a:lnTo>
                <a:lnTo>
                  <a:pt x="133984" y="43919"/>
                </a:lnTo>
                <a:lnTo>
                  <a:pt x="137562" y="52706"/>
                </a:lnTo>
                <a:lnTo>
                  <a:pt x="143231" y="60113"/>
                </a:lnTo>
                <a:lnTo>
                  <a:pt x="150634" y="65785"/>
                </a:lnTo>
                <a:lnTo>
                  <a:pt x="159416" y="69365"/>
                </a:lnTo>
                <a:lnTo>
                  <a:pt x="159416" y="120383"/>
                </a:lnTo>
                <a:lnTo>
                  <a:pt x="147561" y="123692"/>
                </a:lnTo>
                <a:lnTo>
                  <a:pt x="136855" y="129462"/>
                </a:lnTo>
                <a:lnTo>
                  <a:pt x="127669" y="137435"/>
                </a:lnTo>
                <a:lnTo>
                  <a:pt x="120377" y="147353"/>
                </a:lnTo>
                <a:lnTo>
                  <a:pt x="72663" y="127380"/>
                </a:lnTo>
                <a:lnTo>
                  <a:pt x="72446" y="112697"/>
                </a:lnTo>
                <a:lnTo>
                  <a:pt x="66813" y="99689"/>
                </a:lnTo>
                <a:lnTo>
                  <a:pt x="56716" y="89744"/>
                </a:lnTo>
                <a:lnTo>
                  <a:pt x="43107" y="84249"/>
                </a:lnTo>
                <a:lnTo>
                  <a:pt x="28432" y="84466"/>
                </a:lnTo>
                <a:lnTo>
                  <a:pt x="15431" y="90102"/>
                </a:lnTo>
                <a:lnTo>
                  <a:pt x="5491" y="100204"/>
                </a:lnTo>
                <a:lnTo>
                  <a:pt x="0" y="113821"/>
                </a:lnTo>
                <a:lnTo>
                  <a:pt x="217" y="128503"/>
                </a:lnTo>
                <a:lnTo>
                  <a:pt x="5849" y="141511"/>
                </a:lnTo>
                <a:lnTo>
                  <a:pt x="15946" y="151456"/>
                </a:lnTo>
                <a:lnTo>
                  <a:pt x="29555" y="156952"/>
                </a:lnTo>
                <a:lnTo>
                  <a:pt x="39561" y="157439"/>
                </a:lnTo>
                <a:lnTo>
                  <a:pt x="49167" y="155278"/>
                </a:lnTo>
                <a:lnTo>
                  <a:pt x="57863" y="150657"/>
                </a:lnTo>
                <a:lnTo>
                  <a:pt x="65138" y="143766"/>
                </a:lnTo>
                <a:lnTo>
                  <a:pt x="114048" y="163695"/>
                </a:lnTo>
                <a:lnTo>
                  <a:pt x="112906" y="175375"/>
                </a:lnTo>
                <a:lnTo>
                  <a:pt x="114236" y="186906"/>
                </a:lnTo>
                <a:lnTo>
                  <a:pt x="117950" y="197904"/>
                </a:lnTo>
                <a:lnTo>
                  <a:pt x="121095" y="203175"/>
                </a:lnTo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77250" y="145351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093" y="2520"/>
                </a:moveTo>
                <a:lnTo>
                  <a:pt x="39882" y="0"/>
                </a:lnTo>
                <a:lnTo>
                  <a:pt x="26331" y="786"/>
                </a:lnTo>
                <a:lnTo>
                  <a:pt x="14062" y="6599"/>
                </a:lnTo>
                <a:lnTo>
                  <a:pt x="4637" y="17040"/>
                </a:lnTo>
                <a:lnTo>
                  <a:pt x="0" y="30322"/>
                </a:lnTo>
                <a:lnTo>
                  <a:pt x="785" y="43881"/>
                </a:lnTo>
                <a:lnTo>
                  <a:pt x="2374" y="47238"/>
                </a:lnTo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97507" y="1353195"/>
            <a:ext cx="15875" cy="27305"/>
          </a:xfrm>
          <a:custGeom>
            <a:avLst/>
            <a:gdLst/>
            <a:ahLst/>
            <a:cxnLst/>
            <a:rect l="l" t="t" r="r" b="b"/>
            <a:pathLst>
              <a:path w="15875" h="27305">
                <a:moveTo>
                  <a:pt x="2806" y="26870"/>
                </a:moveTo>
                <a:lnTo>
                  <a:pt x="0" y="24062"/>
                </a:lnTo>
                <a:lnTo>
                  <a:pt x="0" y="15500"/>
                </a:lnTo>
                <a:lnTo>
                  <a:pt x="0" y="6938"/>
                </a:lnTo>
                <a:lnTo>
                  <a:pt x="6934" y="0"/>
                </a:lnTo>
                <a:lnTo>
                  <a:pt x="15491" y="0"/>
                </a:lnTo>
              </a:path>
            </a:pathLst>
          </a:custGeom>
          <a:ln w="5164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5415" y="1155191"/>
            <a:ext cx="429895" cy="429895"/>
          </a:xfrm>
          <a:custGeom>
            <a:avLst/>
            <a:gdLst/>
            <a:ahLst/>
            <a:cxnLst/>
            <a:rect l="l" t="t" r="r" b="b"/>
            <a:pathLst>
              <a:path w="429895" h="429894">
                <a:moveTo>
                  <a:pt x="0" y="429767"/>
                </a:moveTo>
                <a:lnTo>
                  <a:pt x="429767" y="429767"/>
                </a:lnTo>
                <a:lnTo>
                  <a:pt x="429767" y="0"/>
                </a:lnTo>
                <a:lnTo>
                  <a:pt x="0" y="0"/>
                </a:lnTo>
                <a:lnTo>
                  <a:pt x="0" y="42976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32269" y="1065021"/>
            <a:ext cx="4851400" cy="612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30" dirty="0">
                <a:latin typeface="Arial"/>
                <a:cs typeface="Arial"/>
              </a:rPr>
              <a:t>Independent: </a:t>
            </a:r>
            <a:r>
              <a:rPr sz="1900" spc="-40" dirty="0">
                <a:latin typeface="Arial"/>
                <a:cs typeface="Arial"/>
              </a:rPr>
              <a:t>User </a:t>
            </a:r>
            <a:r>
              <a:rPr sz="1900" spc="-10" dirty="0">
                <a:latin typeface="Arial"/>
                <a:cs typeface="Arial"/>
              </a:rPr>
              <a:t>stories </a:t>
            </a:r>
            <a:r>
              <a:rPr sz="1900" dirty="0">
                <a:latin typeface="Arial"/>
                <a:cs typeface="Arial"/>
              </a:rPr>
              <a:t>should </a:t>
            </a:r>
            <a:r>
              <a:rPr sz="1900" spc="-30" dirty="0">
                <a:latin typeface="Arial"/>
                <a:cs typeface="Arial"/>
              </a:rPr>
              <a:t>be</a:t>
            </a:r>
            <a:r>
              <a:rPr sz="1900" spc="-385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self-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00" spc="-5" dirty="0">
                <a:latin typeface="Arial"/>
                <a:cs typeface="Arial"/>
              </a:rPr>
              <a:t>contained</a:t>
            </a:r>
            <a:r>
              <a:rPr sz="1900" spc="-110" dirty="0">
                <a:latin typeface="Arial"/>
                <a:cs typeface="Arial"/>
              </a:rPr>
              <a:t> </a:t>
            </a:r>
            <a:r>
              <a:rPr sz="1900" spc="-20" dirty="0">
                <a:latin typeface="Arial"/>
                <a:cs typeface="Arial"/>
              </a:rPr>
              <a:t>and</a:t>
            </a:r>
            <a:r>
              <a:rPr sz="1900" spc="-120" dirty="0">
                <a:latin typeface="Arial"/>
                <a:cs typeface="Arial"/>
              </a:rPr>
              <a:t> </a:t>
            </a:r>
            <a:r>
              <a:rPr sz="1900" spc="20" dirty="0">
                <a:latin typeface="Arial"/>
                <a:cs typeface="Arial"/>
              </a:rPr>
              <a:t>not</a:t>
            </a:r>
            <a:r>
              <a:rPr sz="1900" spc="-110" dirty="0">
                <a:latin typeface="Arial"/>
                <a:cs typeface="Arial"/>
              </a:rPr>
              <a:t> </a:t>
            </a:r>
            <a:r>
              <a:rPr sz="1900" spc="-15" dirty="0">
                <a:latin typeface="Arial"/>
                <a:cs typeface="Arial"/>
              </a:rPr>
              <a:t>dependent</a:t>
            </a:r>
            <a:r>
              <a:rPr sz="1900" spc="-95" dirty="0">
                <a:latin typeface="Arial"/>
                <a:cs typeface="Arial"/>
              </a:rPr>
              <a:t> </a:t>
            </a:r>
            <a:r>
              <a:rPr sz="1900" spc="-15" dirty="0">
                <a:latin typeface="Arial"/>
                <a:cs typeface="Arial"/>
              </a:rPr>
              <a:t>on</a:t>
            </a:r>
            <a:r>
              <a:rPr sz="1900" spc="-120" dirty="0">
                <a:latin typeface="Arial"/>
                <a:cs typeface="Arial"/>
              </a:rPr>
              <a:t> </a:t>
            </a:r>
            <a:r>
              <a:rPr sz="1900" spc="-5" dirty="0">
                <a:latin typeface="Arial"/>
                <a:cs typeface="Arial"/>
              </a:rPr>
              <a:t>other</a:t>
            </a:r>
            <a:r>
              <a:rPr sz="1900" spc="-105" dirty="0">
                <a:latin typeface="Arial"/>
                <a:cs typeface="Arial"/>
              </a:rPr>
              <a:t> </a:t>
            </a:r>
            <a:r>
              <a:rPr sz="1900" spc="-10" dirty="0">
                <a:latin typeface="Arial"/>
                <a:cs typeface="Arial"/>
              </a:rPr>
              <a:t>stories.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9196" y="1956816"/>
            <a:ext cx="5915025" cy="780415"/>
          </a:xfrm>
          <a:custGeom>
            <a:avLst/>
            <a:gdLst/>
            <a:ahLst/>
            <a:cxnLst/>
            <a:rect l="l" t="t" r="r" b="b"/>
            <a:pathLst>
              <a:path w="5915025" h="780414">
                <a:moveTo>
                  <a:pt x="5836665" y="0"/>
                </a:moveTo>
                <a:lnTo>
                  <a:pt x="77977" y="0"/>
                </a:lnTo>
                <a:lnTo>
                  <a:pt x="47630" y="6129"/>
                </a:lnTo>
                <a:lnTo>
                  <a:pt x="22844" y="22844"/>
                </a:lnTo>
                <a:lnTo>
                  <a:pt x="6129" y="47630"/>
                </a:lnTo>
                <a:lnTo>
                  <a:pt x="0" y="77978"/>
                </a:lnTo>
                <a:lnTo>
                  <a:pt x="0" y="702310"/>
                </a:lnTo>
                <a:lnTo>
                  <a:pt x="6129" y="732657"/>
                </a:lnTo>
                <a:lnTo>
                  <a:pt x="22844" y="757443"/>
                </a:lnTo>
                <a:lnTo>
                  <a:pt x="47630" y="774158"/>
                </a:lnTo>
                <a:lnTo>
                  <a:pt x="77977" y="780288"/>
                </a:lnTo>
                <a:lnTo>
                  <a:pt x="5836665" y="780288"/>
                </a:lnTo>
                <a:lnTo>
                  <a:pt x="5867013" y="774158"/>
                </a:lnTo>
                <a:lnTo>
                  <a:pt x="5891799" y="757443"/>
                </a:lnTo>
                <a:lnTo>
                  <a:pt x="5908514" y="732657"/>
                </a:lnTo>
                <a:lnTo>
                  <a:pt x="5914644" y="702310"/>
                </a:lnTo>
                <a:lnTo>
                  <a:pt x="5914644" y="77978"/>
                </a:lnTo>
                <a:lnTo>
                  <a:pt x="5908514" y="47630"/>
                </a:lnTo>
                <a:lnTo>
                  <a:pt x="5891799" y="22844"/>
                </a:lnTo>
                <a:lnTo>
                  <a:pt x="5867013" y="6129"/>
                </a:lnTo>
                <a:lnTo>
                  <a:pt x="5836665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3713" y="2292879"/>
            <a:ext cx="80010" cy="8001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835" y="0"/>
                </a:moveTo>
                <a:lnTo>
                  <a:pt x="24329" y="3132"/>
                </a:lnTo>
                <a:lnTo>
                  <a:pt x="11667" y="11673"/>
                </a:lnTo>
                <a:lnTo>
                  <a:pt x="3130" y="24342"/>
                </a:lnTo>
                <a:lnTo>
                  <a:pt x="0" y="39857"/>
                </a:lnTo>
                <a:lnTo>
                  <a:pt x="3130" y="55372"/>
                </a:lnTo>
                <a:lnTo>
                  <a:pt x="11667" y="68041"/>
                </a:lnTo>
                <a:lnTo>
                  <a:pt x="24329" y="76583"/>
                </a:lnTo>
                <a:lnTo>
                  <a:pt x="39835" y="79715"/>
                </a:lnTo>
                <a:lnTo>
                  <a:pt x="55342" y="76583"/>
                </a:lnTo>
                <a:lnTo>
                  <a:pt x="68004" y="68041"/>
                </a:lnTo>
                <a:lnTo>
                  <a:pt x="76540" y="55372"/>
                </a:lnTo>
                <a:lnTo>
                  <a:pt x="79671" y="39857"/>
                </a:lnTo>
                <a:lnTo>
                  <a:pt x="76540" y="24342"/>
                </a:lnTo>
                <a:lnTo>
                  <a:pt x="68004" y="11673"/>
                </a:lnTo>
                <a:lnTo>
                  <a:pt x="55341" y="3132"/>
                </a:lnTo>
                <a:lnTo>
                  <a:pt x="39835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93713" y="2292879"/>
            <a:ext cx="80010" cy="8001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79671" y="39857"/>
                </a:moveTo>
                <a:lnTo>
                  <a:pt x="76540" y="55372"/>
                </a:lnTo>
                <a:lnTo>
                  <a:pt x="68004" y="68041"/>
                </a:lnTo>
                <a:lnTo>
                  <a:pt x="55342" y="76583"/>
                </a:lnTo>
                <a:lnTo>
                  <a:pt x="39835" y="79715"/>
                </a:lnTo>
                <a:lnTo>
                  <a:pt x="24329" y="76583"/>
                </a:lnTo>
                <a:lnTo>
                  <a:pt x="11667" y="68041"/>
                </a:lnTo>
                <a:lnTo>
                  <a:pt x="3130" y="55372"/>
                </a:lnTo>
                <a:lnTo>
                  <a:pt x="0" y="39857"/>
                </a:lnTo>
                <a:lnTo>
                  <a:pt x="3130" y="24342"/>
                </a:lnTo>
                <a:lnTo>
                  <a:pt x="11667" y="11673"/>
                </a:lnTo>
                <a:lnTo>
                  <a:pt x="24329" y="3132"/>
                </a:lnTo>
                <a:lnTo>
                  <a:pt x="39835" y="0"/>
                </a:lnTo>
                <a:lnTo>
                  <a:pt x="55341" y="3132"/>
                </a:lnTo>
                <a:lnTo>
                  <a:pt x="68004" y="11673"/>
                </a:lnTo>
                <a:lnTo>
                  <a:pt x="76540" y="24342"/>
                </a:lnTo>
                <a:lnTo>
                  <a:pt x="79671" y="39857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0106" y="2445223"/>
            <a:ext cx="160020" cy="80010"/>
          </a:xfrm>
          <a:custGeom>
            <a:avLst/>
            <a:gdLst/>
            <a:ahLst/>
            <a:cxnLst/>
            <a:rect l="l" t="t" r="r" b="b"/>
            <a:pathLst>
              <a:path w="160020" h="80010">
                <a:moveTo>
                  <a:pt x="79671" y="0"/>
                </a:moveTo>
                <a:lnTo>
                  <a:pt x="36586" y="8645"/>
                </a:lnTo>
                <a:lnTo>
                  <a:pt x="2972" y="27697"/>
                </a:lnTo>
                <a:lnTo>
                  <a:pt x="0" y="79715"/>
                </a:lnTo>
                <a:lnTo>
                  <a:pt x="159342" y="79715"/>
                </a:lnTo>
                <a:lnTo>
                  <a:pt x="159504" y="33546"/>
                </a:lnTo>
                <a:lnTo>
                  <a:pt x="156517" y="27571"/>
                </a:lnTo>
                <a:lnTo>
                  <a:pt x="122885" y="8337"/>
                </a:lnTo>
                <a:lnTo>
                  <a:pt x="7967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60106" y="2445223"/>
            <a:ext cx="160020" cy="80010"/>
          </a:xfrm>
          <a:custGeom>
            <a:avLst/>
            <a:gdLst/>
            <a:ahLst/>
            <a:cxnLst/>
            <a:rect l="l" t="t" r="r" b="b"/>
            <a:pathLst>
              <a:path w="160020" h="80010">
                <a:moveTo>
                  <a:pt x="159342" y="79715"/>
                </a:moveTo>
                <a:lnTo>
                  <a:pt x="159342" y="39857"/>
                </a:lnTo>
                <a:lnTo>
                  <a:pt x="159504" y="33546"/>
                </a:lnTo>
                <a:lnTo>
                  <a:pt x="156517" y="27571"/>
                </a:lnTo>
                <a:lnTo>
                  <a:pt x="122885" y="8337"/>
                </a:lnTo>
                <a:lnTo>
                  <a:pt x="79671" y="0"/>
                </a:lnTo>
                <a:lnTo>
                  <a:pt x="71345" y="353"/>
                </a:lnTo>
                <a:lnTo>
                  <a:pt x="26612" y="12874"/>
                </a:lnTo>
                <a:lnTo>
                  <a:pt x="0" y="39857"/>
                </a:lnTo>
                <a:lnTo>
                  <a:pt x="0" y="79715"/>
                </a:lnTo>
                <a:lnTo>
                  <a:pt x="159342" y="79715"/>
                </a:lnTo>
                <a:close/>
              </a:path>
            </a:pathLst>
          </a:custGeom>
          <a:ln w="5166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99942" y="2354880"/>
            <a:ext cx="80010" cy="8001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835" y="0"/>
                </a:moveTo>
                <a:lnTo>
                  <a:pt x="24329" y="3132"/>
                </a:lnTo>
                <a:lnTo>
                  <a:pt x="11667" y="11673"/>
                </a:lnTo>
                <a:lnTo>
                  <a:pt x="3130" y="24342"/>
                </a:lnTo>
                <a:lnTo>
                  <a:pt x="0" y="39857"/>
                </a:lnTo>
                <a:lnTo>
                  <a:pt x="3130" y="55372"/>
                </a:lnTo>
                <a:lnTo>
                  <a:pt x="11667" y="68041"/>
                </a:lnTo>
                <a:lnTo>
                  <a:pt x="24329" y="76583"/>
                </a:lnTo>
                <a:lnTo>
                  <a:pt x="39835" y="79715"/>
                </a:lnTo>
                <a:lnTo>
                  <a:pt x="55342" y="76583"/>
                </a:lnTo>
                <a:lnTo>
                  <a:pt x="68004" y="68041"/>
                </a:lnTo>
                <a:lnTo>
                  <a:pt x="76540" y="55372"/>
                </a:lnTo>
                <a:lnTo>
                  <a:pt x="79671" y="39857"/>
                </a:lnTo>
                <a:lnTo>
                  <a:pt x="76540" y="24342"/>
                </a:lnTo>
                <a:lnTo>
                  <a:pt x="68004" y="11673"/>
                </a:lnTo>
                <a:lnTo>
                  <a:pt x="55341" y="3132"/>
                </a:lnTo>
                <a:lnTo>
                  <a:pt x="39835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99942" y="2354880"/>
            <a:ext cx="80010" cy="80010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79671" y="39857"/>
                </a:moveTo>
                <a:lnTo>
                  <a:pt x="76540" y="55372"/>
                </a:lnTo>
                <a:lnTo>
                  <a:pt x="68004" y="68041"/>
                </a:lnTo>
                <a:lnTo>
                  <a:pt x="55342" y="76583"/>
                </a:lnTo>
                <a:lnTo>
                  <a:pt x="39835" y="79715"/>
                </a:lnTo>
                <a:lnTo>
                  <a:pt x="24329" y="76583"/>
                </a:lnTo>
                <a:lnTo>
                  <a:pt x="11667" y="68041"/>
                </a:lnTo>
                <a:lnTo>
                  <a:pt x="3130" y="55372"/>
                </a:lnTo>
                <a:lnTo>
                  <a:pt x="0" y="39857"/>
                </a:lnTo>
                <a:lnTo>
                  <a:pt x="3130" y="24342"/>
                </a:lnTo>
                <a:lnTo>
                  <a:pt x="11667" y="11673"/>
                </a:lnTo>
                <a:lnTo>
                  <a:pt x="24329" y="3132"/>
                </a:lnTo>
                <a:lnTo>
                  <a:pt x="39835" y="0"/>
                </a:lnTo>
                <a:lnTo>
                  <a:pt x="55341" y="3132"/>
                </a:lnTo>
                <a:lnTo>
                  <a:pt x="68004" y="11673"/>
                </a:lnTo>
                <a:lnTo>
                  <a:pt x="76540" y="24342"/>
                </a:lnTo>
                <a:lnTo>
                  <a:pt x="79671" y="39857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53787" y="2383223"/>
            <a:ext cx="144780" cy="80010"/>
          </a:xfrm>
          <a:custGeom>
            <a:avLst/>
            <a:gdLst/>
            <a:ahLst/>
            <a:cxnLst/>
            <a:rect l="l" t="t" r="r" b="b"/>
            <a:pathLst>
              <a:path w="144779" h="80010">
                <a:moveTo>
                  <a:pt x="79762" y="0"/>
                </a:moveTo>
                <a:lnTo>
                  <a:pt x="36766" y="8851"/>
                </a:lnTo>
                <a:lnTo>
                  <a:pt x="2916" y="27571"/>
                </a:lnTo>
                <a:lnTo>
                  <a:pt x="0" y="33404"/>
                </a:lnTo>
                <a:lnTo>
                  <a:pt x="91" y="79715"/>
                </a:lnTo>
                <a:lnTo>
                  <a:pt x="95696" y="79715"/>
                </a:lnTo>
                <a:lnTo>
                  <a:pt x="97891" y="76633"/>
                </a:lnTo>
                <a:lnTo>
                  <a:pt x="100583" y="73939"/>
                </a:lnTo>
                <a:lnTo>
                  <a:pt x="144384" y="51371"/>
                </a:lnTo>
                <a:lnTo>
                  <a:pt x="137672" y="42899"/>
                </a:lnTo>
                <a:lnTo>
                  <a:pt x="132707" y="33404"/>
                </a:lnTo>
                <a:lnTo>
                  <a:pt x="129597" y="23149"/>
                </a:lnTo>
                <a:lnTo>
                  <a:pt x="128529" y="13144"/>
                </a:lnTo>
                <a:lnTo>
                  <a:pt x="128450" y="10628"/>
                </a:lnTo>
                <a:lnTo>
                  <a:pt x="123278" y="8462"/>
                </a:lnTo>
                <a:lnTo>
                  <a:pt x="117952" y="6683"/>
                </a:lnTo>
                <a:lnTo>
                  <a:pt x="112515" y="5314"/>
                </a:lnTo>
                <a:lnTo>
                  <a:pt x="104471" y="3180"/>
                </a:lnTo>
                <a:lnTo>
                  <a:pt x="96313" y="1580"/>
                </a:lnTo>
                <a:lnTo>
                  <a:pt x="88067" y="518"/>
                </a:lnTo>
                <a:lnTo>
                  <a:pt x="79762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3715" y="2383223"/>
            <a:ext cx="144780" cy="80010"/>
          </a:xfrm>
          <a:custGeom>
            <a:avLst/>
            <a:gdLst/>
            <a:ahLst/>
            <a:cxnLst/>
            <a:rect l="l" t="t" r="r" b="b"/>
            <a:pathLst>
              <a:path w="144779" h="80010">
                <a:moveTo>
                  <a:pt x="103734" y="71743"/>
                </a:moveTo>
                <a:lnTo>
                  <a:pt x="113293" y="65466"/>
                </a:lnTo>
                <a:lnTo>
                  <a:pt x="123298" y="59963"/>
                </a:lnTo>
                <a:lnTo>
                  <a:pt x="133701" y="55257"/>
                </a:lnTo>
                <a:lnTo>
                  <a:pt x="144455" y="51371"/>
                </a:lnTo>
                <a:lnTo>
                  <a:pt x="137743" y="42899"/>
                </a:lnTo>
                <a:lnTo>
                  <a:pt x="132778" y="33404"/>
                </a:lnTo>
                <a:lnTo>
                  <a:pt x="129668" y="23149"/>
                </a:lnTo>
                <a:lnTo>
                  <a:pt x="128521" y="12400"/>
                </a:lnTo>
                <a:lnTo>
                  <a:pt x="128521" y="10628"/>
                </a:lnTo>
                <a:lnTo>
                  <a:pt x="123350" y="8462"/>
                </a:lnTo>
                <a:lnTo>
                  <a:pt x="118024" y="6683"/>
                </a:lnTo>
                <a:lnTo>
                  <a:pt x="112587" y="5314"/>
                </a:lnTo>
                <a:lnTo>
                  <a:pt x="104542" y="3180"/>
                </a:lnTo>
                <a:lnTo>
                  <a:pt x="96384" y="1580"/>
                </a:lnTo>
                <a:lnTo>
                  <a:pt x="88139" y="518"/>
                </a:lnTo>
                <a:lnTo>
                  <a:pt x="79833" y="0"/>
                </a:lnTo>
                <a:lnTo>
                  <a:pt x="71507" y="353"/>
                </a:lnTo>
                <a:lnTo>
                  <a:pt x="26903" y="13144"/>
                </a:lnTo>
                <a:lnTo>
                  <a:pt x="0" y="33546"/>
                </a:lnTo>
                <a:lnTo>
                  <a:pt x="162" y="39857"/>
                </a:lnTo>
                <a:lnTo>
                  <a:pt x="162" y="79715"/>
                </a:lnTo>
                <a:lnTo>
                  <a:pt x="95767" y="79715"/>
                </a:lnTo>
                <a:lnTo>
                  <a:pt x="97962" y="76633"/>
                </a:lnTo>
                <a:lnTo>
                  <a:pt x="100655" y="73939"/>
                </a:lnTo>
                <a:lnTo>
                  <a:pt x="103734" y="71743"/>
                </a:lnTo>
                <a:close/>
              </a:path>
            </a:pathLst>
          </a:custGeom>
          <a:ln w="5166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82211" y="2170649"/>
            <a:ext cx="186055" cy="170815"/>
          </a:xfrm>
          <a:custGeom>
            <a:avLst/>
            <a:gdLst/>
            <a:ahLst/>
            <a:cxnLst/>
            <a:rect l="l" t="t" r="r" b="b"/>
            <a:pathLst>
              <a:path w="186054" h="170814">
                <a:moveTo>
                  <a:pt x="176409" y="0"/>
                </a:moveTo>
                <a:lnTo>
                  <a:pt x="4116" y="36"/>
                </a:lnTo>
                <a:lnTo>
                  <a:pt x="0" y="4207"/>
                </a:lnTo>
                <a:lnTo>
                  <a:pt x="43" y="128640"/>
                </a:lnTo>
                <a:lnTo>
                  <a:pt x="4009" y="132758"/>
                </a:lnTo>
                <a:lnTo>
                  <a:pt x="35789" y="132858"/>
                </a:lnTo>
                <a:lnTo>
                  <a:pt x="35789" y="170235"/>
                </a:lnTo>
                <a:lnTo>
                  <a:pt x="72482" y="132858"/>
                </a:lnTo>
                <a:lnTo>
                  <a:pt x="181532" y="132810"/>
                </a:lnTo>
                <a:lnTo>
                  <a:pt x="185667" y="128640"/>
                </a:lnTo>
                <a:lnTo>
                  <a:pt x="185667" y="116251"/>
                </a:lnTo>
                <a:lnTo>
                  <a:pt x="86620" y="116251"/>
                </a:lnTo>
                <a:lnTo>
                  <a:pt x="82220" y="111848"/>
                </a:lnTo>
                <a:lnTo>
                  <a:pt x="82297" y="100909"/>
                </a:lnTo>
                <a:lnTo>
                  <a:pt x="86620" y="96588"/>
                </a:lnTo>
                <a:lnTo>
                  <a:pt x="185667" y="96588"/>
                </a:lnTo>
                <a:lnTo>
                  <a:pt x="185667" y="89679"/>
                </a:lnTo>
                <a:lnTo>
                  <a:pt x="85761" y="89679"/>
                </a:lnTo>
                <a:lnTo>
                  <a:pt x="85761" y="63594"/>
                </a:lnTo>
                <a:lnTo>
                  <a:pt x="103023" y="63594"/>
                </a:lnTo>
                <a:lnTo>
                  <a:pt x="110105" y="57173"/>
                </a:lnTo>
                <a:lnTo>
                  <a:pt x="110105" y="48404"/>
                </a:lnTo>
                <a:lnTo>
                  <a:pt x="61417" y="48404"/>
                </a:lnTo>
                <a:lnTo>
                  <a:pt x="61516" y="46585"/>
                </a:lnTo>
                <a:lnTo>
                  <a:pt x="63017" y="35890"/>
                </a:lnTo>
                <a:lnTo>
                  <a:pt x="68669" y="26315"/>
                </a:lnTo>
                <a:lnTo>
                  <a:pt x="77496" y="19558"/>
                </a:lnTo>
                <a:lnTo>
                  <a:pt x="88626" y="16607"/>
                </a:lnTo>
                <a:lnTo>
                  <a:pt x="185667" y="16607"/>
                </a:lnTo>
                <a:lnTo>
                  <a:pt x="185667" y="4207"/>
                </a:lnTo>
                <a:lnTo>
                  <a:pt x="181532" y="36"/>
                </a:lnTo>
                <a:lnTo>
                  <a:pt x="176409" y="0"/>
                </a:lnTo>
                <a:close/>
              </a:path>
              <a:path w="186054" h="170814">
                <a:moveTo>
                  <a:pt x="185667" y="96588"/>
                </a:moveTo>
                <a:lnTo>
                  <a:pt x="97424" y="96588"/>
                </a:lnTo>
                <a:lnTo>
                  <a:pt x="101798" y="100909"/>
                </a:lnTo>
                <a:lnTo>
                  <a:pt x="101819" y="111848"/>
                </a:lnTo>
                <a:lnTo>
                  <a:pt x="97671" y="116151"/>
                </a:lnTo>
                <a:lnTo>
                  <a:pt x="92046" y="116251"/>
                </a:lnTo>
                <a:lnTo>
                  <a:pt x="185667" y="116251"/>
                </a:lnTo>
                <a:lnTo>
                  <a:pt x="185667" y="96588"/>
                </a:lnTo>
                <a:close/>
              </a:path>
              <a:path w="186054" h="170814">
                <a:moveTo>
                  <a:pt x="185667" y="16607"/>
                </a:moveTo>
                <a:lnTo>
                  <a:pt x="92046" y="16607"/>
                </a:lnTo>
                <a:lnTo>
                  <a:pt x="103874" y="18857"/>
                </a:lnTo>
                <a:lnTo>
                  <a:pt x="113587" y="25244"/>
                </a:lnTo>
                <a:lnTo>
                  <a:pt x="120198" y="34806"/>
                </a:lnTo>
                <a:lnTo>
                  <a:pt x="122216" y="44234"/>
                </a:lnTo>
                <a:lnTo>
                  <a:pt x="122544" y="48404"/>
                </a:lnTo>
                <a:lnTo>
                  <a:pt x="121099" y="57540"/>
                </a:lnTo>
                <a:lnTo>
                  <a:pt x="116045" y="66225"/>
                </a:lnTo>
                <a:lnTo>
                  <a:pt x="108243" y="72554"/>
                </a:lnTo>
                <a:lnTo>
                  <a:pt x="98375" y="75729"/>
                </a:lnTo>
                <a:lnTo>
                  <a:pt x="98375" y="89679"/>
                </a:lnTo>
                <a:lnTo>
                  <a:pt x="185667" y="89679"/>
                </a:lnTo>
                <a:lnTo>
                  <a:pt x="185667" y="16607"/>
                </a:lnTo>
                <a:close/>
              </a:path>
              <a:path w="186054" h="170814">
                <a:moveTo>
                  <a:pt x="82942" y="28428"/>
                </a:moveTo>
                <a:lnTo>
                  <a:pt x="74876" y="35122"/>
                </a:lnTo>
                <a:lnTo>
                  <a:pt x="74031" y="44234"/>
                </a:lnTo>
                <a:lnTo>
                  <a:pt x="74031" y="48404"/>
                </a:lnTo>
                <a:lnTo>
                  <a:pt x="110105" y="48404"/>
                </a:lnTo>
                <a:lnTo>
                  <a:pt x="110278" y="37514"/>
                </a:lnTo>
                <a:lnTo>
                  <a:pt x="102491" y="29446"/>
                </a:lnTo>
                <a:lnTo>
                  <a:pt x="92717" y="29273"/>
                </a:lnTo>
                <a:lnTo>
                  <a:pt x="92046" y="29273"/>
                </a:lnTo>
                <a:lnTo>
                  <a:pt x="82942" y="28428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82137" y="2170649"/>
            <a:ext cx="186055" cy="170815"/>
          </a:xfrm>
          <a:custGeom>
            <a:avLst/>
            <a:gdLst/>
            <a:ahLst/>
            <a:cxnLst/>
            <a:rect l="l" t="t" r="r" b="b"/>
            <a:pathLst>
              <a:path w="186054" h="170814">
                <a:moveTo>
                  <a:pt x="176482" y="0"/>
                </a:moveTo>
                <a:lnTo>
                  <a:pt x="9305" y="0"/>
                </a:lnTo>
                <a:lnTo>
                  <a:pt x="4189" y="36"/>
                </a:lnTo>
                <a:lnTo>
                  <a:pt x="73" y="4207"/>
                </a:lnTo>
                <a:lnTo>
                  <a:pt x="99" y="9336"/>
                </a:lnTo>
                <a:lnTo>
                  <a:pt x="99" y="123381"/>
                </a:lnTo>
                <a:lnTo>
                  <a:pt x="0" y="128518"/>
                </a:lnTo>
                <a:lnTo>
                  <a:pt x="4083" y="132758"/>
                </a:lnTo>
                <a:lnTo>
                  <a:pt x="9213" y="132858"/>
                </a:lnTo>
                <a:lnTo>
                  <a:pt x="35863" y="132858"/>
                </a:lnTo>
                <a:lnTo>
                  <a:pt x="35863" y="170235"/>
                </a:lnTo>
                <a:lnTo>
                  <a:pt x="72556" y="132858"/>
                </a:lnTo>
                <a:lnTo>
                  <a:pt x="176482" y="132858"/>
                </a:lnTo>
                <a:lnTo>
                  <a:pt x="181606" y="132810"/>
                </a:lnTo>
                <a:lnTo>
                  <a:pt x="185740" y="128640"/>
                </a:lnTo>
                <a:lnTo>
                  <a:pt x="185740" y="123514"/>
                </a:lnTo>
                <a:lnTo>
                  <a:pt x="185740" y="9336"/>
                </a:lnTo>
                <a:lnTo>
                  <a:pt x="185740" y="4207"/>
                </a:lnTo>
                <a:lnTo>
                  <a:pt x="181605" y="36"/>
                </a:lnTo>
                <a:lnTo>
                  <a:pt x="176482" y="0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64431" y="2267237"/>
            <a:ext cx="20320" cy="19685"/>
          </a:xfrm>
          <a:custGeom>
            <a:avLst/>
            <a:gdLst/>
            <a:ahLst/>
            <a:cxnLst/>
            <a:rect l="l" t="t" r="r" b="b"/>
            <a:pathLst>
              <a:path w="20320" h="19685">
                <a:moveTo>
                  <a:pt x="9826" y="19663"/>
                </a:moveTo>
                <a:lnTo>
                  <a:pt x="4400" y="19663"/>
                </a:lnTo>
                <a:lnTo>
                  <a:pt x="0" y="15260"/>
                </a:lnTo>
                <a:lnTo>
                  <a:pt x="0" y="9831"/>
                </a:lnTo>
                <a:lnTo>
                  <a:pt x="0" y="4399"/>
                </a:lnTo>
                <a:lnTo>
                  <a:pt x="4400" y="0"/>
                </a:lnTo>
                <a:lnTo>
                  <a:pt x="9826" y="0"/>
                </a:lnTo>
                <a:lnTo>
                  <a:pt x="15203" y="0"/>
                </a:lnTo>
                <a:lnTo>
                  <a:pt x="19578" y="4321"/>
                </a:lnTo>
                <a:lnTo>
                  <a:pt x="19652" y="9698"/>
                </a:lnTo>
                <a:lnTo>
                  <a:pt x="19751" y="15101"/>
                </a:lnTo>
                <a:lnTo>
                  <a:pt x="15451" y="19563"/>
                </a:lnTo>
                <a:lnTo>
                  <a:pt x="10047" y="19663"/>
                </a:lnTo>
                <a:lnTo>
                  <a:pt x="9899" y="19663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43628" y="2187183"/>
            <a:ext cx="61594" cy="73660"/>
          </a:xfrm>
          <a:custGeom>
            <a:avLst/>
            <a:gdLst/>
            <a:ahLst/>
            <a:cxnLst/>
            <a:rect l="l" t="t" r="r" b="b"/>
            <a:pathLst>
              <a:path w="61595" h="73660">
                <a:moveTo>
                  <a:pt x="36958" y="59195"/>
                </a:moveTo>
                <a:lnTo>
                  <a:pt x="36958" y="73145"/>
                </a:lnTo>
                <a:lnTo>
                  <a:pt x="24344" y="73145"/>
                </a:lnTo>
                <a:lnTo>
                  <a:pt x="24344" y="47061"/>
                </a:lnTo>
                <a:lnTo>
                  <a:pt x="30629" y="47061"/>
                </a:lnTo>
                <a:lnTo>
                  <a:pt x="41606" y="47061"/>
                </a:lnTo>
                <a:lnTo>
                  <a:pt x="48688" y="40639"/>
                </a:lnTo>
                <a:lnTo>
                  <a:pt x="48687" y="30764"/>
                </a:lnTo>
                <a:lnTo>
                  <a:pt x="48861" y="20980"/>
                </a:lnTo>
                <a:lnTo>
                  <a:pt x="41074" y="12913"/>
                </a:lnTo>
                <a:lnTo>
                  <a:pt x="31300" y="12739"/>
                </a:lnTo>
                <a:lnTo>
                  <a:pt x="31075" y="12735"/>
                </a:lnTo>
                <a:lnTo>
                  <a:pt x="30854" y="12735"/>
                </a:lnTo>
                <a:lnTo>
                  <a:pt x="30629" y="12739"/>
                </a:lnTo>
                <a:lnTo>
                  <a:pt x="21525" y="11894"/>
                </a:lnTo>
                <a:lnTo>
                  <a:pt x="13459" y="18589"/>
                </a:lnTo>
                <a:lnTo>
                  <a:pt x="12614" y="27700"/>
                </a:lnTo>
                <a:lnTo>
                  <a:pt x="12518" y="28719"/>
                </a:lnTo>
                <a:lnTo>
                  <a:pt x="12518" y="29745"/>
                </a:lnTo>
                <a:lnTo>
                  <a:pt x="12614" y="30764"/>
                </a:lnTo>
                <a:lnTo>
                  <a:pt x="12614" y="31871"/>
                </a:lnTo>
                <a:lnTo>
                  <a:pt x="0" y="31871"/>
                </a:lnTo>
                <a:lnTo>
                  <a:pt x="0" y="30764"/>
                </a:lnTo>
                <a:lnTo>
                  <a:pt x="1600" y="19357"/>
                </a:lnTo>
                <a:lnTo>
                  <a:pt x="7251" y="9782"/>
                </a:lnTo>
                <a:lnTo>
                  <a:pt x="16079" y="3025"/>
                </a:lnTo>
                <a:lnTo>
                  <a:pt x="27209" y="73"/>
                </a:lnTo>
                <a:lnTo>
                  <a:pt x="28349" y="0"/>
                </a:lnTo>
                <a:lnTo>
                  <a:pt x="29489" y="0"/>
                </a:lnTo>
                <a:lnTo>
                  <a:pt x="61302" y="30051"/>
                </a:lnTo>
                <a:lnTo>
                  <a:pt x="61306" y="30527"/>
                </a:lnTo>
                <a:lnTo>
                  <a:pt x="61302" y="30764"/>
                </a:lnTo>
                <a:lnTo>
                  <a:pt x="59682" y="41007"/>
                </a:lnTo>
                <a:lnTo>
                  <a:pt x="54628" y="49692"/>
                </a:lnTo>
                <a:lnTo>
                  <a:pt x="46826" y="56021"/>
                </a:lnTo>
                <a:lnTo>
                  <a:pt x="36958" y="59195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95415" y="2132076"/>
            <a:ext cx="429895" cy="429895"/>
          </a:xfrm>
          <a:custGeom>
            <a:avLst/>
            <a:gdLst/>
            <a:ahLst/>
            <a:cxnLst/>
            <a:rect l="l" t="t" r="r" b="b"/>
            <a:pathLst>
              <a:path w="429895" h="429894">
                <a:moveTo>
                  <a:pt x="0" y="429768"/>
                </a:moveTo>
                <a:lnTo>
                  <a:pt x="429767" y="429768"/>
                </a:lnTo>
                <a:lnTo>
                  <a:pt x="429767" y="0"/>
                </a:lnTo>
                <a:lnTo>
                  <a:pt x="0" y="0"/>
                </a:lnTo>
                <a:lnTo>
                  <a:pt x="0" y="429768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59196" y="2932176"/>
            <a:ext cx="5915025" cy="782320"/>
          </a:xfrm>
          <a:custGeom>
            <a:avLst/>
            <a:gdLst/>
            <a:ahLst/>
            <a:cxnLst/>
            <a:rect l="l" t="t" r="r" b="b"/>
            <a:pathLst>
              <a:path w="5915025" h="782320">
                <a:moveTo>
                  <a:pt x="5836411" y="0"/>
                </a:moveTo>
                <a:lnTo>
                  <a:pt x="78231" y="0"/>
                </a:lnTo>
                <a:lnTo>
                  <a:pt x="47791" y="6151"/>
                </a:lnTo>
                <a:lnTo>
                  <a:pt x="22923" y="22923"/>
                </a:lnTo>
                <a:lnTo>
                  <a:pt x="6151" y="47791"/>
                </a:lnTo>
                <a:lnTo>
                  <a:pt x="0" y="78232"/>
                </a:lnTo>
                <a:lnTo>
                  <a:pt x="0" y="703580"/>
                </a:lnTo>
                <a:lnTo>
                  <a:pt x="6151" y="734020"/>
                </a:lnTo>
                <a:lnTo>
                  <a:pt x="22923" y="758888"/>
                </a:lnTo>
                <a:lnTo>
                  <a:pt x="47791" y="775660"/>
                </a:lnTo>
                <a:lnTo>
                  <a:pt x="78231" y="781812"/>
                </a:lnTo>
                <a:lnTo>
                  <a:pt x="5836411" y="781812"/>
                </a:lnTo>
                <a:lnTo>
                  <a:pt x="5866852" y="775660"/>
                </a:lnTo>
                <a:lnTo>
                  <a:pt x="5891720" y="758888"/>
                </a:lnTo>
                <a:lnTo>
                  <a:pt x="5908492" y="734020"/>
                </a:lnTo>
                <a:lnTo>
                  <a:pt x="5914644" y="703580"/>
                </a:lnTo>
                <a:lnTo>
                  <a:pt x="5914644" y="78232"/>
                </a:lnTo>
                <a:lnTo>
                  <a:pt x="5908492" y="47791"/>
                </a:lnTo>
                <a:lnTo>
                  <a:pt x="5891720" y="22923"/>
                </a:lnTo>
                <a:lnTo>
                  <a:pt x="5866852" y="6151"/>
                </a:lnTo>
                <a:lnTo>
                  <a:pt x="5836411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11829" y="3178289"/>
            <a:ext cx="330200" cy="222250"/>
          </a:xfrm>
          <a:custGeom>
            <a:avLst/>
            <a:gdLst/>
            <a:ahLst/>
            <a:cxnLst/>
            <a:rect l="l" t="t" r="r" b="b"/>
            <a:pathLst>
              <a:path w="330200" h="222250">
                <a:moveTo>
                  <a:pt x="318684" y="0"/>
                </a:moveTo>
                <a:lnTo>
                  <a:pt x="79671" y="0"/>
                </a:lnTo>
                <a:lnTo>
                  <a:pt x="0" y="101496"/>
                </a:lnTo>
                <a:lnTo>
                  <a:pt x="120929" y="222062"/>
                </a:lnTo>
                <a:lnTo>
                  <a:pt x="139701" y="203356"/>
                </a:lnTo>
                <a:lnTo>
                  <a:pt x="46386" y="110321"/>
                </a:lnTo>
                <a:lnTo>
                  <a:pt x="233070" y="110322"/>
                </a:lnTo>
                <a:lnTo>
                  <a:pt x="250784" y="92670"/>
                </a:lnTo>
                <a:lnTo>
                  <a:pt x="40632" y="92670"/>
                </a:lnTo>
                <a:lnTo>
                  <a:pt x="92595" y="26477"/>
                </a:lnTo>
                <a:lnTo>
                  <a:pt x="317215" y="26477"/>
                </a:lnTo>
                <a:lnTo>
                  <a:pt x="329702" y="14035"/>
                </a:lnTo>
                <a:lnTo>
                  <a:pt x="318684" y="0"/>
                </a:lnTo>
                <a:close/>
              </a:path>
              <a:path w="330200" h="222250">
                <a:moveTo>
                  <a:pt x="141637" y="110322"/>
                </a:moveTo>
                <a:lnTo>
                  <a:pt x="122560" y="110322"/>
                </a:lnTo>
                <a:lnTo>
                  <a:pt x="155906" y="187209"/>
                </a:lnTo>
                <a:lnTo>
                  <a:pt x="169269" y="173895"/>
                </a:lnTo>
                <a:lnTo>
                  <a:pt x="141637" y="110322"/>
                </a:lnTo>
                <a:close/>
              </a:path>
              <a:path w="330200" h="222250">
                <a:moveTo>
                  <a:pt x="160758" y="26477"/>
                </a:moveTo>
                <a:lnTo>
                  <a:pt x="142257" y="26477"/>
                </a:lnTo>
                <a:lnTo>
                  <a:pt x="121808" y="92670"/>
                </a:lnTo>
                <a:lnTo>
                  <a:pt x="140354" y="92670"/>
                </a:lnTo>
                <a:lnTo>
                  <a:pt x="160758" y="26477"/>
                </a:lnTo>
                <a:close/>
              </a:path>
              <a:path w="330200" h="222250">
                <a:moveTo>
                  <a:pt x="256098" y="26477"/>
                </a:moveTo>
                <a:lnTo>
                  <a:pt x="237597" y="26477"/>
                </a:lnTo>
                <a:lnTo>
                  <a:pt x="256306" y="87169"/>
                </a:lnTo>
                <a:lnTo>
                  <a:pt x="270483" y="73041"/>
                </a:lnTo>
                <a:lnTo>
                  <a:pt x="256098" y="26477"/>
                </a:lnTo>
                <a:close/>
              </a:path>
              <a:path w="330200" h="222250">
                <a:moveTo>
                  <a:pt x="317215" y="26477"/>
                </a:moveTo>
                <a:lnTo>
                  <a:pt x="305760" y="26477"/>
                </a:lnTo>
                <a:lnTo>
                  <a:pt x="310787" y="32882"/>
                </a:lnTo>
                <a:lnTo>
                  <a:pt x="317215" y="26477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11829" y="3178289"/>
            <a:ext cx="318770" cy="222250"/>
          </a:xfrm>
          <a:custGeom>
            <a:avLst/>
            <a:gdLst/>
            <a:ahLst/>
            <a:cxnLst/>
            <a:rect l="l" t="t" r="r" b="b"/>
            <a:pathLst>
              <a:path w="318770" h="222250">
                <a:moveTo>
                  <a:pt x="318684" y="0"/>
                </a:moveTo>
                <a:lnTo>
                  <a:pt x="79671" y="0"/>
                </a:lnTo>
                <a:lnTo>
                  <a:pt x="0" y="101496"/>
                </a:lnTo>
                <a:lnTo>
                  <a:pt x="120929" y="222062"/>
                </a:lnTo>
              </a:path>
            </a:pathLst>
          </a:custGeom>
          <a:ln w="5153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30514" y="3178290"/>
            <a:ext cx="11430" cy="14604"/>
          </a:xfrm>
          <a:custGeom>
            <a:avLst/>
            <a:gdLst/>
            <a:ahLst/>
            <a:cxnLst/>
            <a:rect l="l" t="t" r="r" b="b"/>
            <a:pathLst>
              <a:path w="11429" h="14605">
                <a:moveTo>
                  <a:pt x="11017" y="14035"/>
                </a:moveTo>
                <a:lnTo>
                  <a:pt x="0" y="0"/>
                </a:lnTo>
              </a:path>
            </a:pathLst>
          </a:custGeom>
          <a:ln w="5157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34390" y="3288612"/>
            <a:ext cx="33655" cy="77470"/>
          </a:xfrm>
          <a:custGeom>
            <a:avLst/>
            <a:gdLst/>
            <a:ahLst/>
            <a:cxnLst/>
            <a:rect l="l" t="t" r="r" b="b"/>
            <a:pathLst>
              <a:path w="33654" h="77470">
                <a:moveTo>
                  <a:pt x="0" y="0"/>
                </a:moveTo>
                <a:lnTo>
                  <a:pt x="33345" y="76887"/>
                </a:lnTo>
              </a:path>
            </a:pathLst>
          </a:custGeom>
          <a:ln w="5161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58215" y="3288611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5" h="93345">
                <a:moveTo>
                  <a:pt x="93315" y="93034"/>
                </a:moveTo>
                <a:lnTo>
                  <a:pt x="0" y="0"/>
                </a:lnTo>
                <a:lnTo>
                  <a:pt x="76174" y="0"/>
                </a:lnTo>
              </a:path>
            </a:pathLst>
          </a:custGeom>
          <a:ln w="5156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53467" y="3288612"/>
            <a:ext cx="91440" cy="64135"/>
          </a:xfrm>
          <a:custGeom>
            <a:avLst/>
            <a:gdLst/>
            <a:ahLst/>
            <a:cxnLst/>
            <a:rect l="l" t="t" r="r" b="b"/>
            <a:pathLst>
              <a:path w="91439" h="64135">
                <a:moveTo>
                  <a:pt x="27631" y="63573"/>
                </a:moveTo>
                <a:lnTo>
                  <a:pt x="0" y="0"/>
                </a:lnTo>
                <a:lnTo>
                  <a:pt x="91432" y="0"/>
                </a:lnTo>
              </a:path>
            </a:pathLst>
          </a:custGeom>
          <a:ln w="5153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2183" y="3204767"/>
            <a:ext cx="116205" cy="66675"/>
          </a:xfrm>
          <a:custGeom>
            <a:avLst/>
            <a:gdLst/>
            <a:ahLst/>
            <a:cxnLst/>
            <a:rect l="l" t="t" r="r" b="b"/>
            <a:pathLst>
              <a:path w="116204" h="66675">
                <a:moveTo>
                  <a:pt x="0" y="66193"/>
                </a:moveTo>
                <a:lnTo>
                  <a:pt x="20404" y="0"/>
                </a:lnTo>
                <a:lnTo>
                  <a:pt x="97243" y="0"/>
                </a:lnTo>
                <a:lnTo>
                  <a:pt x="115951" y="60691"/>
                </a:lnTo>
              </a:path>
            </a:pathLst>
          </a:custGeom>
          <a:ln w="515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52183" y="3270960"/>
            <a:ext cx="110489" cy="0"/>
          </a:xfrm>
          <a:custGeom>
            <a:avLst/>
            <a:gdLst/>
            <a:ahLst/>
            <a:cxnLst/>
            <a:rect l="l" t="t" r="r" b="b"/>
            <a:pathLst>
              <a:path w="110489">
                <a:moveTo>
                  <a:pt x="110430" y="0"/>
                </a:moveTo>
                <a:lnTo>
                  <a:pt x="0" y="0"/>
                </a:lnTo>
              </a:path>
            </a:pathLst>
          </a:custGeom>
          <a:ln w="5148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67927" y="3204767"/>
            <a:ext cx="55244" cy="46990"/>
          </a:xfrm>
          <a:custGeom>
            <a:avLst/>
            <a:gdLst/>
            <a:ahLst/>
            <a:cxnLst/>
            <a:rect l="l" t="t" r="r" b="b"/>
            <a:pathLst>
              <a:path w="55245" h="46989">
                <a:moveTo>
                  <a:pt x="14385" y="46564"/>
                </a:moveTo>
                <a:lnTo>
                  <a:pt x="0" y="0"/>
                </a:lnTo>
                <a:lnTo>
                  <a:pt x="49661" y="0"/>
                </a:lnTo>
                <a:lnTo>
                  <a:pt x="54688" y="6405"/>
                </a:lnTo>
              </a:path>
            </a:pathLst>
          </a:custGeom>
          <a:ln w="5154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52461" y="3204767"/>
            <a:ext cx="102235" cy="66675"/>
          </a:xfrm>
          <a:custGeom>
            <a:avLst/>
            <a:gdLst/>
            <a:ahLst/>
            <a:cxnLst/>
            <a:rect l="l" t="t" r="r" b="b"/>
            <a:pathLst>
              <a:path w="102235" h="66675">
                <a:moveTo>
                  <a:pt x="51963" y="0"/>
                </a:moveTo>
                <a:lnTo>
                  <a:pt x="101625" y="0"/>
                </a:lnTo>
                <a:lnTo>
                  <a:pt x="81176" y="66193"/>
                </a:lnTo>
                <a:lnTo>
                  <a:pt x="0" y="66193"/>
                </a:lnTo>
                <a:lnTo>
                  <a:pt x="51963" y="0"/>
                </a:lnTo>
              </a:path>
            </a:pathLst>
          </a:custGeom>
          <a:ln w="5152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95415" y="3108960"/>
            <a:ext cx="429895" cy="428625"/>
          </a:xfrm>
          <a:custGeom>
            <a:avLst/>
            <a:gdLst/>
            <a:ahLst/>
            <a:cxnLst/>
            <a:rect l="l" t="t" r="r" b="b"/>
            <a:pathLst>
              <a:path w="429895" h="428625">
                <a:moveTo>
                  <a:pt x="0" y="428244"/>
                </a:moveTo>
                <a:lnTo>
                  <a:pt x="429767" y="428244"/>
                </a:lnTo>
                <a:lnTo>
                  <a:pt x="429767" y="0"/>
                </a:lnTo>
                <a:lnTo>
                  <a:pt x="0" y="0"/>
                </a:lnTo>
                <a:lnTo>
                  <a:pt x="0" y="428244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59196" y="3909059"/>
            <a:ext cx="5915025" cy="780415"/>
          </a:xfrm>
          <a:custGeom>
            <a:avLst/>
            <a:gdLst/>
            <a:ahLst/>
            <a:cxnLst/>
            <a:rect l="l" t="t" r="r" b="b"/>
            <a:pathLst>
              <a:path w="5915025" h="780414">
                <a:moveTo>
                  <a:pt x="5836665" y="0"/>
                </a:moveTo>
                <a:lnTo>
                  <a:pt x="77977" y="0"/>
                </a:lnTo>
                <a:lnTo>
                  <a:pt x="47630" y="6129"/>
                </a:lnTo>
                <a:lnTo>
                  <a:pt x="22844" y="22844"/>
                </a:lnTo>
                <a:lnTo>
                  <a:pt x="6129" y="47630"/>
                </a:lnTo>
                <a:lnTo>
                  <a:pt x="0" y="77977"/>
                </a:lnTo>
                <a:lnTo>
                  <a:pt x="0" y="702309"/>
                </a:lnTo>
                <a:lnTo>
                  <a:pt x="6129" y="732657"/>
                </a:lnTo>
                <a:lnTo>
                  <a:pt x="22844" y="757443"/>
                </a:lnTo>
                <a:lnTo>
                  <a:pt x="47630" y="774158"/>
                </a:lnTo>
                <a:lnTo>
                  <a:pt x="77977" y="780288"/>
                </a:lnTo>
                <a:lnTo>
                  <a:pt x="5836665" y="780288"/>
                </a:lnTo>
                <a:lnTo>
                  <a:pt x="5867013" y="774158"/>
                </a:lnTo>
                <a:lnTo>
                  <a:pt x="5891799" y="757443"/>
                </a:lnTo>
                <a:lnTo>
                  <a:pt x="5908514" y="732657"/>
                </a:lnTo>
                <a:lnTo>
                  <a:pt x="5914644" y="702309"/>
                </a:lnTo>
                <a:lnTo>
                  <a:pt x="5914644" y="77977"/>
                </a:lnTo>
                <a:lnTo>
                  <a:pt x="5908514" y="47630"/>
                </a:lnTo>
                <a:lnTo>
                  <a:pt x="5891799" y="22844"/>
                </a:lnTo>
                <a:lnTo>
                  <a:pt x="5867013" y="6129"/>
                </a:lnTo>
                <a:lnTo>
                  <a:pt x="5836665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09131" y="4144999"/>
            <a:ext cx="243840" cy="266065"/>
          </a:xfrm>
          <a:custGeom>
            <a:avLst/>
            <a:gdLst/>
            <a:ahLst/>
            <a:cxnLst/>
            <a:rect l="l" t="t" r="r" b="b"/>
            <a:pathLst>
              <a:path w="243839" h="266064">
                <a:moveTo>
                  <a:pt x="78286" y="53186"/>
                </a:moveTo>
                <a:lnTo>
                  <a:pt x="66747" y="56006"/>
                </a:lnTo>
                <a:lnTo>
                  <a:pt x="57109" y="62950"/>
                </a:lnTo>
                <a:lnTo>
                  <a:pt x="50650" y="73426"/>
                </a:lnTo>
                <a:lnTo>
                  <a:pt x="48733" y="83651"/>
                </a:lnTo>
                <a:lnTo>
                  <a:pt x="50227" y="93678"/>
                </a:lnTo>
                <a:lnTo>
                  <a:pt x="54868" y="102688"/>
                </a:lnTo>
                <a:lnTo>
                  <a:pt x="62394" y="109866"/>
                </a:lnTo>
                <a:lnTo>
                  <a:pt x="32871" y="203753"/>
                </a:lnTo>
                <a:lnTo>
                  <a:pt x="31056" y="203753"/>
                </a:lnTo>
                <a:lnTo>
                  <a:pt x="18991" y="206160"/>
                </a:lnTo>
                <a:lnTo>
                  <a:pt x="9127" y="212781"/>
                </a:lnTo>
                <a:lnTo>
                  <a:pt x="2463" y="222619"/>
                </a:lnTo>
                <a:lnTo>
                  <a:pt x="0" y="234679"/>
                </a:lnTo>
                <a:lnTo>
                  <a:pt x="2406" y="246751"/>
                </a:lnTo>
                <a:lnTo>
                  <a:pt x="9022" y="256621"/>
                </a:lnTo>
                <a:lnTo>
                  <a:pt x="18855" y="263288"/>
                </a:lnTo>
                <a:lnTo>
                  <a:pt x="30909" y="265753"/>
                </a:lnTo>
                <a:lnTo>
                  <a:pt x="42975" y="263346"/>
                </a:lnTo>
                <a:lnTo>
                  <a:pt x="52839" y="256725"/>
                </a:lnTo>
                <a:lnTo>
                  <a:pt x="59502" y="246887"/>
                </a:lnTo>
                <a:lnTo>
                  <a:pt x="61966" y="234827"/>
                </a:lnTo>
                <a:lnTo>
                  <a:pt x="61134" y="227620"/>
                </a:lnTo>
                <a:lnTo>
                  <a:pt x="58694" y="220890"/>
                </a:lnTo>
                <a:lnTo>
                  <a:pt x="54777" y="214898"/>
                </a:lnTo>
                <a:lnTo>
                  <a:pt x="49514" y="209909"/>
                </a:lnTo>
                <a:lnTo>
                  <a:pt x="79302" y="115180"/>
                </a:lnTo>
                <a:lnTo>
                  <a:pt x="86376" y="115169"/>
                </a:lnTo>
                <a:lnTo>
                  <a:pt x="92831" y="113025"/>
                </a:lnTo>
                <a:lnTo>
                  <a:pt x="98157" y="109069"/>
                </a:lnTo>
                <a:lnTo>
                  <a:pt x="127665" y="109069"/>
                </a:lnTo>
                <a:lnTo>
                  <a:pt x="108780" y="94897"/>
                </a:lnTo>
                <a:lnTo>
                  <a:pt x="110673" y="82734"/>
                </a:lnTo>
                <a:lnTo>
                  <a:pt x="107855" y="71189"/>
                </a:lnTo>
                <a:lnTo>
                  <a:pt x="100915" y="61544"/>
                </a:lnTo>
                <a:lnTo>
                  <a:pt x="90445" y="55080"/>
                </a:lnTo>
                <a:lnTo>
                  <a:pt x="78286" y="53186"/>
                </a:lnTo>
                <a:close/>
              </a:path>
              <a:path w="243839" h="266064">
                <a:moveTo>
                  <a:pt x="127665" y="109069"/>
                </a:moveTo>
                <a:lnTo>
                  <a:pt x="98157" y="109069"/>
                </a:lnTo>
                <a:lnTo>
                  <a:pt x="143968" y="143391"/>
                </a:lnTo>
                <a:lnTo>
                  <a:pt x="142493" y="147096"/>
                </a:lnTo>
                <a:lnTo>
                  <a:pt x="141729" y="151049"/>
                </a:lnTo>
                <a:lnTo>
                  <a:pt x="141716" y="155064"/>
                </a:lnTo>
                <a:lnTo>
                  <a:pt x="144157" y="167129"/>
                </a:lnTo>
                <a:lnTo>
                  <a:pt x="150805" y="176979"/>
                </a:lnTo>
                <a:lnTo>
                  <a:pt x="160675" y="183619"/>
                </a:lnTo>
                <a:lnTo>
                  <a:pt x="172683" y="186049"/>
                </a:lnTo>
                <a:lnTo>
                  <a:pt x="184759" y="183608"/>
                </a:lnTo>
                <a:lnTo>
                  <a:pt x="194607" y="176961"/>
                </a:lnTo>
                <a:lnTo>
                  <a:pt x="201243" y="167105"/>
                </a:lnTo>
                <a:lnTo>
                  <a:pt x="203674" y="155038"/>
                </a:lnTo>
                <a:lnTo>
                  <a:pt x="202721" y="147408"/>
                </a:lnTo>
                <a:lnTo>
                  <a:pt x="199959" y="140327"/>
                </a:lnTo>
                <a:lnTo>
                  <a:pt x="195560" y="134131"/>
                </a:lnTo>
                <a:lnTo>
                  <a:pt x="190211" y="129573"/>
                </a:lnTo>
                <a:lnTo>
                  <a:pt x="154989" y="129573"/>
                </a:lnTo>
                <a:lnTo>
                  <a:pt x="127665" y="109069"/>
                </a:lnTo>
                <a:close/>
              </a:path>
              <a:path w="243839" h="266064">
                <a:moveTo>
                  <a:pt x="212555" y="0"/>
                </a:moveTo>
                <a:lnTo>
                  <a:pt x="200459" y="2457"/>
                </a:lnTo>
                <a:lnTo>
                  <a:pt x="190613" y="9112"/>
                </a:lnTo>
                <a:lnTo>
                  <a:pt x="183982" y="18970"/>
                </a:lnTo>
                <a:lnTo>
                  <a:pt x="181553" y="31037"/>
                </a:lnTo>
                <a:lnTo>
                  <a:pt x="182507" y="38670"/>
                </a:lnTo>
                <a:lnTo>
                  <a:pt x="185287" y="45775"/>
                </a:lnTo>
                <a:lnTo>
                  <a:pt x="189715" y="51986"/>
                </a:lnTo>
                <a:lnTo>
                  <a:pt x="195622" y="56988"/>
                </a:lnTo>
                <a:lnTo>
                  <a:pt x="172694" y="124038"/>
                </a:lnTo>
                <a:lnTo>
                  <a:pt x="166341" y="124038"/>
                </a:lnTo>
                <a:lnTo>
                  <a:pt x="160186" y="125964"/>
                </a:lnTo>
                <a:lnTo>
                  <a:pt x="154989" y="129573"/>
                </a:lnTo>
                <a:lnTo>
                  <a:pt x="190211" y="129573"/>
                </a:lnTo>
                <a:lnTo>
                  <a:pt x="189691" y="129131"/>
                </a:lnTo>
                <a:lnTo>
                  <a:pt x="191424" y="124038"/>
                </a:lnTo>
                <a:lnTo>
                  <a:pt x="172694" y="124038"/>
                </a:lnTo>
                <a:lnTo>
                  <a:pt x="191427" y="124030"/>
                </a:lnTo>
                <a:lnTo>
                  <a:pt x="212530" y="62037"/>
                </a:lnTo>
                <a:lnTo>
                  <a:pt x="224589" y="59601"/>
                </a:lnTo>
                <a:lnTo>
                  <a:pt x="234438" y="52957"/>
                </a:lnTo>
                <a:lnTo>
                  <a:pt x="241078" y="43103"/>
                </a:lnTo>
                <a:lnTo>
                  <a:pt x="243503" y="30985"/>
                </a:lnTo>
                <a:lnTo>
                  <a:pt x="241055" y="18921"/>
                </a:lnTo>
                <a:lnTo>
                  <a:pt x="234398" y="9072"/>
                </a:lnTo>
                <a:lnTo>
                  <a:pt x="224613" y="2457"/>
                </a:lnTo>
                <a:lnTo>
                  <a:pt x="212555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09131" y="4144999"/>
            <a:ext cx="243840" cy="266065"/>
          </a:xfrm>
          <a:custGeom>
            <a:avLst/>
            <a:gdLst/>
            <a:ahLst/>
            <a:cxnLst/>
            <a:rect l="l" t="t" r="r" b="b"/>
            <a:pathLst>
              <a:path w="243839" h="266064">
                <a:moveTo>
                  <a:pt x="243513" y="31037"/>
                </a:moveTo>
                <a:lnTo>
                  <a:pt x="241088" y="18970"/>
                </a:lnTo>
                <a:lnTo>
                  <a:pt x="234456" y="9112"/>
                </a:lnTo>
                <a:lnTo>
                  <a:pt x="224613" y="2457"/>
                </a:lnTo>
                <a:lnTo>
                  <a:pt x="212555" y="0"/>
                </a:lnTo>
                <a:lnTo>
                  <a:pt x="200494" y="2433"/>
                </a:lnTo>
                <a:lnTo>
                  <a:pt x="190640" y="9072"/>
                </a:lnTo>
                <a:lnTo>
                  <a:pt x="183992" y="18921"/>
                </a:lnTo>
                <a:lnTo>
                  <a:pt x="181546" y="30985"/>
                </a:lnTo>
                <a:lnTo>
                  <a:pt x="182507" y="38670"/>
                </a:lnTo>
                <a:lnTo>
                  <a:pt x="185287" y="45775"/>
                </a:lnTo>
                <a:lnTo>
                  <a:pt x="189715" y="51986"/>
                </a:lnTo>
                <a:lnTo>
                  <a:pt x="195622" y="56988"/>
                </a:lnTo>
                <a:lnTo>
                  <a:pt x="172694" y="124038"/>
                </a:lnTo>
                <a:lnTo>
                  <a:pt x="166365" y="124030"/>
                </a:lnTo>
                <a:lnTo>
                  <a:pt x="160186" y="125964"/>
                </a:lnTo>
                <a:lnTo>
                  <a:pt x="154989" y="129573"/>
                </a:lnTo>
                <a:lnTo>
                  <a:pt x="108780" y="94897"/>
                </a:lnTo>
                <a:lnTo>
                  <a:pt x="110673" y="82734"/>
                </a:lnTo>
                <a:lnTo>
                  <a:pt x="107855" y="71189"/>
                </a:lnTo>
                <a:lnTo>
                  <a:pt x="100915" y="61544"/>
                </a:lnTo>
                <a:lnTo>
                  <a:pt x="90445" y="55080"/>
                </a:lnTo>
                <a:lnTo>
                  <a:pt x="78286" y="53186"/>
                </a:lnTo>
                <a:lnTo>
                  <a:pt x="66747" y="56006"/>
                </a:lnTo>
                <a:lnTo>
                  <a:pt x="57109" y="62950"/>
                </a:lnTo>
                <a:lnTo>
                  <a:pt x="50650" y="73426"/>
                </a:lnTo>
                <a:lnTo>
                  <a:pt x="48733" y="83651"/>
                </a:lnTo>
                <a:lnTo>
                  <a:pt x="50227" y="93678"/>
                </a:lnTo>
                <a:lnTo>
                  <a:pt x="54868" y="102688"/>
                </a:lnTo>
                <a:lnTo>
                  <a:pt x="62394" y="109866"/>
                </a:lnTo>
                <a:lnTo>
                  <a:pt x="32871" y="203753"/>
                </a:lnTo>
                <a:lnTo>
                  <a:pt x="31056" y="203753"/>
                </a:lnTo>
                <a:lnTo>
                  <a:pt x="18991" y="206160"/>
                </a:lnTo>
                <a:lnTo>
                  <a:pt x="9127" y="212781"/>
                </a:lnTo>
                <a:lnTo>
                  <a:pt x="2463" y="222619"/>
                </a:lnTo>
                <a:lnTo>
                  <a:pt x="0" y="234679"/>
                </a:lnTo>
                <a:lnTo>
                  <a:pt x="2406" y="246751"/>
                </a:lnTo>
                <a:lnTo>
                  <a:pt x="9022" y="256621"/>
                </a:lnTo>
                <a:lnTo>
                  <a:pt x="18855" y="263288"/>
                </a:lnTo>
                <a:lnTo>
                  <a:pt x="30909" y="265753"/>
                </a:lnTo>
                <a:lnTo>
                  <a:pt x="42975" y="263346"/>
                </a:lnTo>
                <a:lnTo>
                  <a:pt x="52839" y="256725"/>
                </a:lnTo>
                <a:lnTo>
                  <a:pt x="59502" y="246887"/>
                </a:lnTo>
                <a:lnTo>
                  <a:pt x="61966" y="234827"/>
                </a:lnTo>
                <a:lnTo>
                  <a:pt x="61134" y="227620"/>
                </a:lnTo>
                <a:lnTo>
                  <a:pt x="58694" y="220890"/>
                </a:lnTo>
                <a:lnTo>
                  <a:pt x="54777" y="214898"/>
                </a:lnTo>
                <a:lnTo>
                  <a:pt x="49514" y="209909"/>
                </a:lnTo>
                <a:lnTo>
                  <a:pt x="79302" y="115180"/>
                </a:lnTo>
                <a:lnTo>
                  <a:pt x="79744" y="115180"/>
                </a:lnTo>
                <a:lnTo>
                  <a:pt x="86376" y="115169"/>
                </a:lnTo>
                <a:lnTo>
                  <a:pt x="92831" y="113025"/>
                </a:lnTo>
                <a:lnTo>
                  <a:pt x="98157" y="109069"/>
                </a:lnTo>
                <a:lnTo>
                  <a:pt x="143968" y="143391"/>
                </a:lnTo>
                <a:lnTo>
                  <a:pt x="142493" y="147096"/>
                </a:lnTo>
                <a:lnTo>
                  <a:pt x="141729" y="151049"/>
                </a:lnTo>
                <a:lnTo>
                  <a:pt x="141711" y="155038"/>
                </a:lnTo>
                <a:lnTo>
                  <a:pt x="144141" y="167105"/>
                </a:lnTo>
                <a:lnTo>
                  <a:pt x="150778" y="176961"/>
                </a:lnTo>
                <a:lnTo>
                  <a:pt x="160624" y="183608"/>
                </a:lnTo>
                <a:lnTo>
                  <a:pt x="172683" y="186049"/>
                </a:lnTo>
                <a:lnTo>
                  <a:pt x="184744" y="183619"/>
                </a:lnTo>
                <a:lnTo>
                  <a:pt x="194594" y="176979"/>
                </a:lnTo>
                <a:lnTo>
                  <a:pt x="201238" y="167129"/>
                </a:lnTo>
                <a:lnTo>
                  <a:pt x="203677" y="155064"/>
                </a:lnTo>
                <a:lnTo>
                  <a:pt x="202721" y="147408"/>
                </a:lnTo>
                <a:lnTo>
                  <a:pt x="199959" y="140327"/>
                </a:lnTo>
                <a:lnTo>
                  <a:pt x="195560" y="134131"/>
                </a:lnTo>
                <a:lnTo>
                  <a:pt x="189691" y="129131"/>
                </a:lnTo>
                <a:lnTo>
                  <a:pt x="212530" y="62037"/>
                </a:lnTo>
                <a:lnTo>
                  <a:pt x="224589" y="59601"/>
                </a:lnTo>
                <a:lnTo>
                  <a:pt x="234438" y="52957"/>
                </a:lnTo>
                <a:lnTo>
                  <a:pt x="241078" y="43103"/>
                </a:lnTo>
                <a:lnTo>
                  <a:pt x="243513" y="31037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060517" y="4442313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5">
                <a:moveTo>
                  <a:pt x="0" y="0"/>
                </a:moveTo>
                <a:lnTo>
                  <a:pt x="305406" y="0"/>
                </a:lnTo>
              </a:path>
            </a:pathLst>
          </a:custGeom>
          <a:ln w="26677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73795" y="4144416"/>
            <a:ext cx="0" cy="285115"/>
          </a:xfrm>
          <a:custGeom>
            <a:avLst/>
            <a:gdLst/>
            <a:ahLst/>
            <a:cxnLst/>
            <a:rect l="l" t="t" r="r" b="b"/>
            <a:pathLst>
              <a:path h="285114">
                <a:moveTo>
                  <a:pt x="0" y="0"/>
                </a:moveTo>
                <a:lnTo>
                  <a:pt x="0" y="284558"/>
                </a:lnTo>
              </a:path>
            </a:pathLst>
          </a:custGeom>
          <a:ln w="26557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060517" y="4145036"/>
            <a:ext cx="305435" cy="310515"/>
          </a:xfrm>
          <a:custGeom>
            <a:avLst/>
            <a:gdLst/>
            <a:ahLst/>
            <a:cxnLst/>
            <a:rect l="l" t="t" r="r" b="b"/>
            <a:pathLst>
              <a:path w="305435" h="310514">
                <a:moveTo>
                  <a:pt x="26557" y="0"/>
                </a:moveTo>
                <a:lnTo>
                  <a:pt x="0" y="0"/>
                </a:lnTo>
                <a:lnTo>
                  <a:pt x="0" y="310003"/>
                </a:lnTo>
                <a:lnTo>
                  <a:pt x="305406" y="310003"/>
                </a:lnTo>
                <a:lnTo>
                  <a:pt x="305406" y="283431"/>
                </a:lnTo>
                <a:lnTo>
                  <a:pt x="26557" y="283431"/>
                </a:lnTo>
                <a:lnTo>
                  <a:pt x="26557" y="0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95415" y="4084320"/>
            <a:ext cx="429895" cy="429895"/>
          </a:xfrm>
          <a:custGeom>
            <a:avLst/>
            <a:gdLst/>
            <a:ahLst/>
            <a:cxnLst/>
            <a:rect l="l" t="t" r="r" b="b"/>
            <a:pathLst>
              <a:path w="429895" h="429895">
                <a:moveTo>
                  <a:pt x="0" y="429767"/>
                </a:moveTo>
                <a:lnTo>
                  <a:pt x="429767" y="429767"/>
                </a:lnTo>
                <a:lnTo>
                  <a:pt x="429767" y="0"/>
                </a:lnTo>
                <a:lnTo>
                  <a:pt x="0" y="0"/>
                </a:lnTo>
                <a:lnTo>
                  <a:pt x="0" y="42976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59196" y="4884420"/>
            <a:ext cx="5915025" cy="782320"/>
          </a:xfrm>
          <a:custGeom>
            <a:avLst/>
            <a:gdLst/>
            <a:ahLst/>
            <a:cxnLst/>
            <a:rect l="l" t="t" r="r" b="b"/>
            <a:pathLst>
              <a:path w="5915025" h="782320">
                <a:moveTo>
                  <a:pt x="5836411" y="0"/>
                </a:moveTo>
                <a:lnTo>
                  <a:pt x="78231" y="0"/>
                </a:lnTo>
                <a:lnTo>
                  <a:pt x="47791" y="6151"/>
                </a:lnTo>
                <a:lnTo>
                  <a:pt x="22923" y="22923"/>
                </a:lnTo>
                <a:lnTo>
                  <a:pt x="6151" y="47791"/>
                </a:lnTo>
                <a:lnTo>
                  <a:pt x="0" y="78231"/>
                </a:lnTo>
                <a:lnTo>
                  <a:pt x="0" y="703630"/>
                </a:lnTo>
                <a:lnTo>
                  <a:pt x="6151" y="734063"/>
                </a:lnTo>
                <a:lnTo>
                  <a:pt x="22923" y="758913"/>
                </a:lnTo>
                <a:lnTo>
                  <a:pt x="47791" y="775668"/>
                </a:lnTo>
                <a:lnTo>
                  <a:pt x="78231" y="781811"/>
                </a:lnTo>
                <a:lnTo>
                  <a:pt x="5836411" y="781811"/>
                </a:lnTo>
                <a:lnTo>
                  <a:pt x="5866852" y="775668"/>
                </a:lnTo>
                <a:lnTo>
                  <a:pt x="5891720" y="758913"/>
                </a:lnTo>
                <a:lnTo>
                  <a:pt x="5908492" y="734063"/>
                </a:lnTo>
                <a:lnTo>
                  <a:pt x="5914644" y="703630"/>
                </a:lnTo>
                <a:lnTo>
                  <a:pt x="5914644" y="78231"/>
                </a:lnTo>
                <a:lnTo>
                  <a:pt x="5908492" y="47791"/>
                </a:lnTo>
                <a:lnTo>
                  <a:pt x="5891720" y="22923"/>
                </a:lnTo>
                <a:lnTo>
                  <a:pt x="5866852" y="6151"/>
                </a:lnTo>
                <a:lnTo>
                  <a:pt x="5836411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60517" y="5126385"/>
            <a:ext cx="88900" cy="88265"/>
          </a:xfrm>
          <a:custGeom>
            <a:avLst/>
            <a:gdLst/>
            <a:ahLst/>
            <a:cxnLst/>
            <a:rect l="l" t="t" r="r" b="b"/>
            <a:pathLst>
              <a:path w="88900" h="88264">
                <a:moveTo>
                  <a:pt x="44261" y="0"/>
                </a:moveTo>
                <a:lnTo>
                  <a:pt x="27033" y="3468"/>
                </a:lnTo>
                <a:lnTo>
                  <a:pt x="12964" y="12925"/>
                </a:lnTo>
                <a:lnTo>
                  <a:pt x="3478" y="26952"/>
                </a:lnTo>
                <a:lnTo>
                  <a:pt x="0" y="44128"/>
                </a:lnTo>
                <a:lnTo>
                  <a:pt x="3478" y="61305"/>
                </a:lnTo>
                <a:lnTo>
                  <a:pt x="12964" y="75331"/>
                </a:lnTo>
                <a:lnTo>
                  <a:pt x="27033" y="84789"/>
                </a:lnTo>
                <a:lnTo>
                  <a:pt x="44261" y="88257"/>
                </a:lnTo>
                <a:lnTo>
                  <a:pt x="61489" y="84789"/>
                </a:lnTo>
                <a:lnTo>
                  <a:pt x="75559" y="75332"/>
                </a:lnTo>
                <a:lnTo>
                  <a:pt x="85045" y="61305"/>
                </a:lnTo>
                <a:lnTo>
                  <a:pt x="88523" y="44128"/>
                </a:lnTo>
                <a:lnTo>
                  <a:pt x="85045" y="26952"/>
                </a:lnTo>
                <a:lnTo>
                  <a:pt x="75559" y="12925"/>
                </a:lnTo>
                <a:lnTo>
                  <a:pt x="61489" y="3468"/>
                </a:lnTo>
                <a:lnTo>
                  <a:pt x="4426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060517" y="5126385"/>
            <a:ext cx="88900" cy="88265"/>
          </a:xfrm>
          <a:custGeom>
            <a:avLst/>
            <a:gdLst/>
            <a:ahLst/>
            <a:cxnLst/>
            <a:rect l="l" t="t" r="r" b="b"/>
            <a:pathLst>
              <a:path w="88900" h="88264">
                <a:moveTo>
                  <a:pt x="88523" y="44128"/>
                </a:moveTo>
                <a:lnTo>
                  <a:pt x="85045" y="61305"/>
                </a:lnTo>
                <a:lnTo>
                  <a:pt x="75559" y="75332"/>
                </a:lnTo>
                <a:lnTo>
                  <a:pt x="61489" y="84789"/>
                </a:lnTo>
                <a:lnTo>
                  <a:pt x="44261" y="88257"/>
                </a:lnTo>
                <a:lnTo>
                  <a:pt x="27033" y="84789"/>
                </a:lnTo>
                <a:lnTo>
                  <a:pt x="12964" y="75331"/>
                </a:lnTo>
                <a:lnTo>
                  <a:pt x="3478" y="61305"/>
                </a:lnTo>
                <a:lnTo>
                  <a:pt x="0" y="44128"/>
                </a:lnTo>
                <a:lnTo>
                  <a:pt x="3478" y="26952"/>
                </a:lnTo>
                <a:lnTo>
                  <a:pt x="12964" y="12925"/>
                </a:lnTo>
                <a:lnTo>
                  <a:pt x="27033" y="3468"/>
                </a:lnTo>
                <a:lnTo>
                  <a:pt x="44261" y="0"/>
                </a:lnTo>
                <a:lnTo>
                  <a:pt x="61489" y="3468"/>
                </a:lnTo>
                <a:lnTo>
                  <a:pt x="75559" y="12925"/>
                </a:lnTo>
                <a:lnTo>
                  <a:pt x="85045" y="26952"/>
                </a:lnTo>
                <a:lnTo>
                  <a:pt x="88523" y="44128"/>
                </a:lnTo>
              </a:path>
            </a:pathLst>
          </a:custGeom>
          <a:ln w="5156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264165" y="5123561"/>
            <a:ext cx="74295" cy="73025"/>
          </a:xfrm>
          <a:custGeom>
            <a:avLst/>
            <a:gdLst/>
            <a:ahLst/>
            <a:cxnLst/>
            <a:rect l="l" t="t" r="r" b="b"/>
            <a:pathLst>
              <a:path w="74295" h="73025">
                <a:moveTo>
                  <a:pt x="48643" y="0"/>
                </a:moveTo>
                <a:lnTo>
                  <a:pt x="0" y="46908"/>
                </a:lnTo>
                <a:lnTo>
                  <a:pt x="25678" y="72510"/>
                </a:lnTo>
                <a:lnTo>
                  <a:pt x="73953" y="24407"/>
                </a:lnTo>
                <a:lnTo>
                  <a:pt x="48643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264165" y="5123561"/>
            <a:ext cx="74295" cy="73025"/>
          </a:xfrm>
          <a:custGeom>
            <a:avLst/>
            <a:gdLst/>
            <a:ahLst/>
            <a:cxnLst/>
            <a:rect l="l" t="t" r="r" b="b"/>
            <a:pathLst>
              <a:path w="74295" h="73025">
                <a:moveTo>
                  <a:pt x="25678" y="72510"/>
                </a:moveTo>
                <a:lnTo>
                  <a:pt x="0" y="46908"/>
                </a:lnTo>
                <a:lnTo>
                  <a:pt x="48643" y="0"/>
                </a:lnTo>
                <a:lnTo>
                  <a:pt x="73953" y="24407"/>
                </a:lnTo>
              </a:path>
            </a:pathLst>
          </a:custGeom>
          <a:ln w="515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060517" y="5342352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82521" y="0"/>
                </a:moveTo>
                <a:lnTo>
                  <a:pt x="0" y="0"/>
                </a:lnTo>
                <a:lnTo>
                  <a:pt x="0" y="82227"/>
                </a:lnTo>
                <a:lnTo>
                  <a:pt x="82521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060517" y="5342352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82521" y="0"/>
                </a:moveTo>
                <a:lnTo>
                  <a:pt x="0" y="0"/>
                </a:lnTo>
                <a:lnTo>
                  <a:pt x="0" y="82227"/>
                </a:lnTo>
              </a:path>
            </a:pathLst>
          </a:custGeom>
          <a:ln w="5156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166745" y="5138646"/>
            <a:ext cx="90170" cy="63500"/>
          </a:xfrm>
          <a:custGeom>
            <a:avLst/>
            <a:gdLst/>
            <a:ahLst/>
            <a:cxnLst/>
            <a:rect l="l" t="t" r="r" b="b"/>
            <a:pathLst>
              <a:path w="90170" h="63500">
                <a:moveTo>
                  <a:pt x="60262" y="0"/>
                </a:moveTo>
                <a:lnTo>
                  <a:pt x="55360" y="7"/>
                </a:lnTo>
                <a:lnTo>
                  <a:pt x="49318" y="6052"/>
                </a:lnTo>
                <a:lnTo>
                  <a:pt x="49329" y="10943"/>
                </a:lnTo>
                <a:lnTo>
                  <a:pt x="61214" y="22777"/>
                </a:lnTo>
                <a:lnTo>
                  <a:pt x="0" y="22777"/>
                </a:lnTo>
                <a:lnTo>
                  <a:pt x="0" y="40429"/>
                </a:lnTo>
                <a:lnTo>
                  <a:pt x="61258" y="40429"/>
                </a:lnTo>
                <a:lnTo>
                  <a:pt x="49351" y="52252"/>
                </a:lnTo>
                <a:lnTo>
                  <a:pt x="49311" y="57154"/>
                </a:lnTo>
                <a:lnTo>
                  <a:pt x="55323" y="63247"/>
                </a:lnTo>
                <a:lnTo>
                  <a:pt x="60277" y="63247"/>
                </a:lnTo>
                <a:lnTo>
                  <a:pt x="89549" y="34089"/>
                </a:lnTo>
                <a:lnTo>
                  <a:pt x="89549" y="29205"/>
                </a:lnTo>
                <a:lnTo>
                  <a:pt x="60262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66745" y="5138646"/>
            <a:ext cx="90170" cy="63500"/>
          </a:xfrm>
          <a:custGeom>
            <a:avLst/>
            <a:gdLst/>
            <a:ahLst/>
            <a:cxnLst/>
            <a:rect l="l" t="t" r="r" b="b"/>
            <a:pathLst>
              <a:path w="90170" h="63500">
                <a:moveTo>
                  <a:pt x="86531" y="26175"/>
                </a:moveTo>
                <a:lnTo>
                  <a:pt x="63294" y="3008"/>
                </a:lnTo>
                <a:lnTo>
                  <a:pt x="60262" y="0"/>
                </a:lnTo>
                <a:lnTo>
                  <a:pt x="55360" y="7"/>
                </a:lnTo>
                <a:lnTo>
                  <a:pt x="52339" y="3030"/>
                </a:lnTo>
                <a:lnTo>
                  <a:pt x="49318" y="6052"/>
                </a:lnTo>
                <a:lnTo>
                  <a:pt x="49329" y="10943"/>
                </a:lnTo>
                <a:lnTo>
                  <a:pt x="52361" y="13952"/>
                </a:lnTo>
                <a:lnTo>
                  <a:pt x="61214" y="22777"/>
                </a:lnTo>
                <a:lnTo>
                  <a:pt x="0" y="22777"/>
                </a:lnTo>
                <a:lnTo>
                  <a:pt x="0" y="40429"/>
                </a:lnTo>
                <a:lnTo>
                  <a:pt x="61258" y="40429"/>
                </a:lnTo>
                <a:lnTo>
                  <a:pt x="52406" y="49255"/>
                </a:lnTo>
                <a:lnTo>
                  <a:pt x="49351" y="52252"/>
                </a:lnTo>
                <a:lnTo>
                  <a:pt x="49311" y="57154"/>
                </a:lnTo>
                <a:lnTo>
                  <a:pt x="52317" y="60199"/>
                </a:lnTo>
                <a:lnTo>
                  <a:pt x="55323" y="63247"/>
                </a:lnTo>
                <a:lnTo>
                  <a:pt x="60240" y="63284"/>
                </a:lnTo>
                <a:lnTo>
                  <a:pt x="63294" y="60287"/>
                </a:lnTo>
                <a:lnTo>
                  <a:pt x="86531" y="37119"/>
                </a:lnTo>
                <a:lnTo>
                  <a:pt x="89549" y="34089"/>
                </a:lnTo>
                <a:lnTo>
                  <a:pt x="89549" y="29205"/>
                </a:lnTo>
                <a:lnTo>
                  <a:pt x="86531" y="26175"/>
                </a:lnTo>
              </a:path>
            </a:pathLst>
          </a:custGeom>
          <a:ln w="5153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995415" y="5061203"/>
            <a:ext cx="429895" cy="428625"/>
          </a:xfrm>
          <a:custGeom>
            <a:avLst/>
            <a:gdLst/>
            <a:ahLst/>
            <a:cxnLst/>
            <a:rect l="l" t="t" r="r" b="b"/>
            <a:pathLst>
              <a:path w="429895" h="428625">
                <a:moveTo>
                  <a:pt x="0" y="428244"/>
                </a:moveTo>
                <a:lnTo>
                  <a:pt x="429767" y="428244"/>
                </a:lnTo>
                <a:lnTo>
                  <a:pt x="429767" y="0"/>
                </a:lnTo>
                <a:lnTo>
                  <a:pt x="0" y="0"/>
                </a:lnTo>
                <a:lnTo>
                  <a:pt x="0" y="428244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759196" y="5861303"/>
            <a:ext cx="5915025" cy="780415"/>
          </a:xfrm>
          <a:custGeom>
            <a:avLst/>
            <a:gdLst/>
            <a:ahLst/>
            <a:cxnLst/>
            <a:rect l="l" t="t" r="r" b="b"/>
            <a:pathLst>
              <a:path w="5915025" h="780415">
                <a:moveTo>
                  <a:pt x="5836665" y="0"/>
                </a:moveTo>
                <a:lnTo>
                  <a:pt x="77977" y="0"/>
                </a:lnTo>
                <a:lnTo>
                  <a:pt x="47630" y="6132"/>
                </a:lnTo>
                <a:lnTo>
                  <a:pt x="22844" y="22855"/>
                </a:lnTo>
                <a:lnTo>
                  <a:pt x="6129" y="47657"/>
                </a:lnTo>
                <a:lnTo>
                  <a:pt x="0" y="78028"/>
                </a:lnTo>
                <a:lnTo>
                  <a:pt x="0" y="702259"/>
                </a:lnTo>
                <a:lnTo>
                  <a:pt x="6129" y="732630"/>
                </a:lnTo>
                <a:lnTo>
                  <a:pt x="22844" y="757432"/>
                </a:lnTo>
                <a:lnTo>
                  <a:pt x="47630" y="774155"/>
                </a:lnTo>
                <a:lnTo>
                  <a:pt x="77977" y="780288"/>
                </a:lnTo>
                <a:lnTo>
                  <a:pt x="5836665" y="780288"/>
                </a:lnTo>
                <a:lnTo>
                  <a:pt x="5867013" y="774155"/>
                </a:lnTo>
                <a:lnTo>
                  <a:pt x="5891799" y="757432"/>
                </a:lnTo>
                <a:lnTo>
                  <a:pt x="5908514" y="732630"/>
                </a:lnTo>
                <a:lnTo>
                  <a:pt x="5914644" y="702259"/>
                </a:lnTo>
                <a:lnTo>
                  <a:pt x="5914644" y="78028"/>
                </a:lnTo>
                <a:lnTo>
                  <a:pt x="5908514" y="47657"/>
                </a:lnTo>
                <a:lnTo>
                  <a:pt x="5891799" y="22855"/>
                </a:lnTo>
                <a:lnTo>
                  <a:pt x="5867013" y="6132"/>
                </a:lnTo>
                <a:lnTo>
                  <a:pt x="5836665" y="0"/>
                </a:lnTo>
                <a:close/>
              </a:path>
            </a:pathLst>
          </a:custGeom>
          <a:solidFill>
            <a:srgbClr val="D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016255" y="6087980"/>
            <a:ext cx="389890" cy="328295"/>
          </a:xfrm>
          <a:custGeom>
            <a:avLst/>
            <a:gdLst/>
            <a:ahLst/>
            <a:cxnLst/>
            <a:rect l="l" t="t" r="r" b="b"/>
            <a:pathLst>
              <a:path w="389889" h="328295">
                <a:moveTo>
                  <a:pt x="389503" y="301588"/>
                </a:moveTo>
                <a:lnTo>
                  <a:pt x="0" y="301588"/>
                </a:lnTo>
                <a:lnTo>
                  <a:pt x="0" y="328160"/>
                </a:lnTo>
                <a:lnTo>
                  <a:pt x="389503" y="328160"/>
                </a:lnTo>
                <a:lnTo>
                  <a:pt x="389503" y="301588"/>
                </a:lnTo>
                <a:close/>
              </a:path>
              <a:path w="389889" h="328295">
                <a:moveTo>
                  <a:pt x="35409" y="53586"/>
                </a:moveTo>
                <a:lnTo>
                  <a:pt x="17704" y="53586"/>
                </a:lnTo>
                <a:lnTo>
                  <a:pt x="17704" y="301588"/>
                </a:lnTo>
                <a:lnTo>
                  <a:pt x="35409" y="301588"/>
                </a:lnTo>
                <a:lnTo>
                  <a:pt x="35409" y="111158"/>
                </a:lnTo>
                <a:lnTo>
                  <a:pt x="371798" y="111158"/>
                </a:lnTo>
                <a:lnTo>
                  <a:pt x="371798" y="93443"/>
                </a:lnTo>
                <a:lnTo>
                  <a:pt x="35409" y="93443"/>
                </a:lnTo>
                <a:lnTo>
                  <a:pt x="35409" y="53586"/>
                </a:lnTo>
                <a:close/>
              </a:path>
              <a:path w="389889" h="328295">
                <a:moveTo>
                  <a:pt x="371798" y="111158"/>
                </a:moveTo>
                <a:lnTo>
                  <a:pt x="354094" y="111158"/>
                </a:lnTo>
                <a:lnTo>
                  <a:pt x="354094" y="301588"/>
                </a:lnTo>
                <a:lnTo>
                  <a:pt x="371799" y="301588"/>
                </a:lnTo>
                <a:lnTo>
                  <a:pt x="371798" y="111158"/>
                </a:lnTo>
                <a:close/>
              </a:path>
              <a:path w="389889" h="328295">
                <a:moveTo>
                  <a:pt x="132785" y="111158"/>
                </a:moveTo>
                <a:lnTo>
                  <a:pt x="61966" y="111158"/>
                </a:lnTo>
                <a:lnTo>
                  <a:pt x="61966" y="248445"/>
                </a:lnTo>
                <a:lnTo>
                  <a:pt x="64760" y="262201"/>
                </a:lnTo>
                <a:lnTo>
                  <a:pt x="72368" y="273467"/>
                </a:lnTo>
                <a:lnTo>
                  <a:pt x="83627" y="281078"/>
                </a:lnTo>
                <a:lnTo>
                  <a:pt x="97375" y="283874"/>
                </a:lnTo>
                <a:lnTo>
                  <a:pt x="111124" y="281078"/>
                </a:lnTo>
                <a:lnTo>
                  <a:pt x="122383" y="273467"/>
                </a:lnTo>
                <a:lnTo>
                  <a:pt x="129991" y="262201"/>
                </a:lnTo>
                <a:lnTo>
                  <a:pt x="132785" y="248445"/>
                </a:lnTo>
                <a:lnTo>
                  <a:pt x="132785" y="111158"/>
                </a:lnTo>
                <a:close/>
              </a:path>
              <a:path w="389889" h="328295">
                <a:moveTo>
                  <a:pt x="230161" y="111158"/>
                </a:moveTo>
                <a:lnTo>
                  <a:pt x="159342" y="111158"/>
                </a:lnTo>
                <a:lnTo>
                  <a:pt x="159342" y="248445"/>
                </a:lnTo>
                <a:lnTo>
                  <a:pt x="162136" y="262201"/>
                </a:lnTo>
                <a:lnTo>
                  <a:pt x="169743" y="273467"/>
                </a:lnTo>
                <a:lnTo>
                  <a:pt x="181003" y="281078"/>
                </a:lnTo>
                <a:lnTo>
                  <a:pt x="194751" y="283874"/>
                </a:lnTo>
                <a:lnTo>
                  <a:pt x="208500" y="281078"/>
                </a:lnTo>
                <a:lnTo>
                  <a:pt x="219759" y="273467"/>
                </a:lnTo>
                <a:lnTo>
                  <a:pt x="227367" y="262201"/>
                </a:lnTo>
                <a:lnTo>
                  <a:pt x="230161" y="248445"/>
                </a:lnTo>
                <a:lnTo>
                  <a:pt x="230161" y="111158"/>
                </a:lnTo>
                <a:close/>
              </a:path>
              <a:path w="389889" h="328295">
                <a:moveTo>
                  <a:pt x="327537" y="111158"/>
                </a:moveTo>
                <a:lnTo>
                  <a:pt x="256718" y="111158"/>
                </a:lnTo>
                <a:lnTo>
                  <a:pt x="256718" y="248445"/>
                </a:lnTo>
                <a:lnTo>
                  <a:pt x="259512" y="262201"/>
                </a:lnTo>
                <a:lnTo>
                  <a:pt x="267119" y="273467"/>
                </a:lnTo>
                <a:lnTo>
                  <a:pt x="278379" y="281078"/>
                </a:lnTo>
                <a:lnTo>
                  <a:pt x="292127" y="283874"/>
                </a:lnTo>
                <a:lnTo>
                  <a:pt x="305876" y="281078"/>
                </a:lnTo>
                <a:lnTo>
                  <a:pt x="317135" y="273467"/>
                </a:lnTo>
                <a:lnTo>
                  <a:pt x="324743" y="262201"/>
                </a:lnTo>
                <a:lnTo>
                  <a:pt x="327537" y="248445"/>
                </a:lnTo>
                <a:lnTo>
                  <a:pt x="327537" y="111158"/>
                </a:lnTo>
                <a:close/>
              </a:path>
              <a:path w="389889" h="328295">
                <a:moveTo>
                  <a:pt x="57539" y="0"/>
                </a:moveTo>
                <a:lnTo>
                  <a:pt x="53556" y="3985"/>
                </a:lnTo>
                <a:lnTo>
                  <a:pt x="53445" y="13285"/>
                </a:lnTo>
                <a:lnTo>
                  <a:pt x="55769" y="16385"/>
                </a:lnTo>
                <a:lnTo>
                  <a:pt x="59752" y="17714"/>
                </a:lnTo>
                <a:lnTo>
                  <a:pt x="61744" y="21700"/>
                </a:lnTo>
                <a:lnTo>
                  <a:pt x="61966" y="93443"/>
                </a:lnTo>
                <a:lnTo>
                  <a:pt x="132785" y="93443"/>
                </a:lnTo>
                <a:lnTo>
                  <a:pt x="132785" y="71300"/>
                </a:lnTo>
                <a:lnTo>
                  <a:pt x="79670" y="71300"/>
                </a:lnTo>
                <a:lnTo>
                  <a:pt x="79670" y="26128"/>
                </a:lnTo>
                <a:lnTo>
                  <a:pt x="79228" y="21700"/>
                </a:lnTo>
                <a:lnTo>
                  <a:pt x="78342" y="18157"/>
                </a:lnTo>
                <a:lnTo>
                  <a:pt x="134776" y="18157"/>
                </a:lnTo>
                <a:lnTo>
                  <a:pt x="134998" y="17714"/>
                </a:lnTo>
                <a:lnTo>
                  <a:pt x="138981" y="16828"/>
                </a:lnTo>
                <a:lnTo>
                  <a:pt x="141637" y="13285"/>
                </a:lnTo>
                <a:lnTo>
                  <a:pt x="141637" y="3985"/>
                </a:lnTo>
                <a:lnTo>
                  <a:pt x="138096" y="442"/>
                </a:lnTo>
                <a:lnTo>
                  <a:pt x="62408" y="442"/>
                </a:lnTo>
                <a:lnTo>
                  <a:pt x="57539" y="0"/>
                </a:lnTo>
                <a:close/>
              </a:path>
              <a:path w="389889" h="328295">
                <a:moveTo>
                  <a:pt x="154915" y="0"/>
                </a:moveTo>
                <a:lnTo>
                  <a:pt x="150932" y="3985"/>
                </a:lnTo>
                <a:lnTo>
                  <a:pt x="150821" y="13285"/>
                </a:lnTo>
                <a:lnTo>
                  <a:pt x="153145" y="16385"/>
                </a:lnTo>
                <a:lnTo>
                  <a:pt x="157128" y="17714"/>
                </a:lnTo>
                <a:lnTo>
                  <a:pt x="159120" y="21700"/>
                </a:lnTo>
                <a:lnTo>
                  <a:pt x="159342" y="93443"/>
                </a:lnTo>
                <a:lnTo>
                  <a:pt x="230161" y="93443"/>
                </a:lnTo>
                <a:lnTo>
                  <a:pt x="230161" y="71300"/>
                </a:lnTo>
                <a:lnTo>
                  <a:pt x="177046" y="71300"/>
                </a:lnTo>
                <a:lnTo>
                  <a:pt x="177046" y="26128"/>
                </a:lnTo>
                <a:lnTo>
                  <a:pt x="176604" y="21700"/>
                </a:lnTo>
                <a:lnTo>
                  <a:pt x="175718" y="18157"/>
                </a:lnTo>
                <a:lnTo>
                  <a:pt x="232152" y="18157"/>
                </a:lnTo>
                <a:lnTo>
                  <a:pt x="232374" y="17714"/>
                </a:lnTo>
                <a:lnTo>
                  <a:pt x="236357" y="16828"/>
                </a:lnTo>
                <a:lnTo>
                  <a:pt x="239013" y="13285"/>
                </a:lnTo>
                <a:lnTo>
                  <a:pt x="239013" y="3985"/>
                </a:lnTo>
                <a:lnTo>
                  <a:pt x="235472" y="442"/>
                </a:lnTo>
                <a:lnTo>
                  <a:pt x="159784" y="442"/>
                </a:lnTo>
                <a:lnTo>
                  <a:pt x="154915" y="0"/>
                </a:lnTo>
                <a:close/>
              </a:path>
              <a:path w="389889" h="328295">
                <a:moveTo>
                  <a:pt x="252291" y="0"/>
                </a:moveTo>
                <a:lnTo>
                  <a:pt x="248308" y="3985"/>
                </a:lnTo>
                <a:lnTo>
                  <a:pt x="248197" y="13285"/>
                </a:lnTo>
                <a:lnTo>
                  <a:pt x="250521" y="16385"/>
                </a:lnTo>
                <a:lnTo>
                  <a:pt x="254504" y="17714"/>
                </a:lnTo>
                <a:lnTo>
                  <a:pt x="256496" y="21700"/>
                </a:lnTo>
                <a:lnTo>
                  <a:pt x="256718" y="93443"/>
                </a:lnTo>
                <a:lnTo>
                  <a:pt x="327537" y="93443"/>
                </a:lnTo>
                <a:lnTo>
                  <a:pt x="327537" y="71300"/>
                </a:lnTo>
                <a:lnTo>
                  <a:pt x="274422" y="71300"/>
                </a:lnTo>
                <a:lnTo>
                  <a:pt x="274422" y="26128"/>
                </a:lnTo>
                <a:lnTo>
                  <a:pt x="273980" y="21700"/>
                </a:lnTo>
                <a:lnTo>
                  <a:pt x="273094" y="18157"/>
                </a:lnTo>
                <a:lnTo>
                  <a:pt x="329528" y="18157"/>
                </a:lnTo>
                <a:lnTo>
                  <a:pt x="329750" y="17714"/>
                </a:lnTo>
                <a:lnTo>
                  <a:pt x="333733" y="16828"/>
                </a:lnTo>
                <a:lnTo>
                  <a:pt x="336389" y="13285"/>
                </a:lnTo>
                <a:lnTo>
                  <a:pt x="336389" y="3985"/>
                </a:lnTo>
                <a:lnTo>
                  <a:pt x="332848" y="442"/>
                </a:lnTo>
                <a:lnTo>
                  <a:pt x="257160" y="442"/>
                </a:lnTo>
                <a:lnTo>
                  <a:pt x="252291" y="0"/>
                </a:lnTo>
                <a:close/>
              </a:path>
              <a:path w="389889" h="328295">
                <a:moveTo>
                  <a:pt x="371798" y="53586"/>
                </a:moveTo>
                <a:lnTo>
                  <a:pt x="354094" y="53586"/>
                </a:lnTo>
                <a:lnTo>
                  <a:pt x="354094" y="93443"/>
                </a:lnTo>
                <a:lnTo>
                  <a:pt x="371798" y="93443"/>
                </a:lnTo>
                <a:lnTo>
                  <a:pt x="371798" y="53586"/>
                </a:lnTo>
                <a:close/>
              </a:path>
              <a:path w="389889" h="328295">
                <a:moveTo>
                  <a:pt x="106227" y="66872"/>
                </a:moveTo>
                <a:lnTo>
                  <a:pt x="88523" y="66872"/>
                </a:lnTo>
                <a:lnTo>
                  <a:pt x="79670" y="71300"/>
                </a:lnTo>
                <a:lnTo>
                  <a:pt x="115080" y="71300"/>
                </a:lnTo>
                <a:lnTo>
                  <a:pt x="106227" y="66872"/>
                </a:lnTo>
                <a:close/>
              </a:path>
              <a:path w="389889" h="328295">
                <a:moveTo>
                  <a:pt x="134776" y="18157"/>
                </a:moveTo>
                <a:lnTo>
                  <a:pt x="116408" y="18157"/>
                </a:lnTo>
                <a:lnTo>
                  <a:pt x="115522" y="21700"/>
                </a:lnTo>
                <a:lnTo>
                  <a:pt x="115080" y="26128"/>
                </a:lnTo>
                <a:lnTo>
                  <a:pt x="115080" y="71300"/>
                </a:lnTo>
                <a:lnTo>
                  <a:pt x="132785" y="71300"/>
                </a:lnTo>
                <a:lnTo>
                  <a:pt x="133006" y="21700"/>
                </a:lnTo>
                <a:lnTo>
                  <a:pt x="134776" y="18157"/>
                </a:lnTo>
                <a:close/>
              </a:path>
              <a:path w="389889" h="328295">
                <a:moveTo>
                  <a:pt x="203603" y="66872"/>
                </a:moveTo>
                <a:lnTo>
                  <a:pt x="185899" y="66872"/>
                </a:lnTo>
                <a:lnTo>
                  <a:pt x="177046" y="71300"/>
                </a:lnTo>
                <a:lnTo>
                  <a:pt x="212456" y="71300"/>
                </a:lnTo>
                <a:lnTo>
                  <a:pt x="203603" y="66872"/>
                </a:lnTo>
                <a:close/>
              </a:path>
              <a:path w="389889" h="328295">
                <a:moveTo>
                  <a:pt x="232152" y="18157"/>
                </a:moveTo>
                <a:lnTo>
                  <a:pt x="213784" y="18157"/>
                </a:lnTo>
                <a:lnTo>
                  <a:pt x="212898" y="21700"/>
                </a:lnTo>
                <a:lnTo>
                  <a:pt x="212456" y="26128"/>
                </a:lnTo>
                <a:lnTo>
                  <a:pt x="212456" y="71300"/>
                </a:lnTo>
                <a:lnTo>
                  <a:pt x="230161" y="71300"/>
                </a:lnTo>
                <a:lnTo>
                  <a:pt x="230382" y="21700"/>
                </a:lnTo>
                <a:lnTo>
                  <a:pt x="232152" y="18157"/>
                </a:lnTo>
                <a:close/>
              </a:path>
              <a:path w="389889" h="328295">
                <a:moveTo>
                  <a:pt x="300979" y="66872"/>
                </a:moveTo>
                <a:lnTo>
                  <a:pt x="283275" y="66872"/>
                </a:lnTo>
                <a:lnTo>
                  <a:pt x="274422" y="71300"/>
                </a:lnTo>
                <a:lnTo>
                  <a:pt x="309832" y="71300"/>
                </a:lnTo>
                <a:lnTo>
                  <a:pt x="300979" y="66872"/>
                </a:lnTo>
                <a:close/>
              </a:path>
              <a:path w="389889" h="328295">
                <a:moveTo>
                  <a:pt x="329528" y="18157"/>
                </a:moveTo>
                <a:lnTo>
                  <a:pt x="311160" y="18157"/>
                </a:lnTo>
                <a:lnTo>
                  <a:pt x="310274" y="21700"/>
                </a:lnTo>
                <a:lnTo>
                  <a:pt x="309832" y="26128"/>
                </a:lnTo>
                <a:lnTo>
                  <a:pt x="309832" y="71300"/>
                </a:lnTo>
                <a:lnTo>
                  <a:pt x="327537" y="71300"/>
                </a:lnTo>
                <a:lnTo>
                  <a:pt x="327758" y="21700"/>
                </a:lnTo>
                <a:lnTo>
                  <a:pt x="329528" y="18157"/>
                </a:lnTo>
                <a:close/>
              </a:path>
              <a:path w="389889" h="328295">
                <a:moveTo>
                  <a:pt x="137653" y="0"/>
                </a:moveTo>
                <a:lnTo>
                  <a:pt x="132784" y="442"/>
                </a:lnTo>
                <a:lnTo>
                  <a:pt x="138096" y="442"/>
                </a:lnTo>
                <a:lnTo>
                  <a:pt x="137653" y="0"/>
                </a:lnTo>
                <a:close/>
              </a:path>
              <a:path w="389889" h="328295">
                <a:moveTo>
                  <a:pt x="235029" y="0"/>
                </a:moveTo>
                <a:lnTo>
                  <a:pt x="230160" y="442"/>
                </a:lnTo>
                <a:lnTo>
                  <a:pt x="235472" y="442"/>
                </a:lnTo>
                <a:lnTo>
                  <a:pt x="235029" y="0"/>
                </a:lnTo>
                <a:close/>
              </a:path>
              <a:path w="389889" h="328295">
                <a:moveTo>
                  <a:pt x="332405" y="0"/>
                </a:moveTo>
                <a:lnTo>
                  <a:pt x="327536" y="442"/>
                </a:lnTo>
                <a:lnTo>
                  <a:pt x="332848" y="442"/>
                </a:lnTo>
                <a:lnTo>
                  <a:pt x="332405" y="0"/>
                </a:lnTo>
                <a:close/>
              </a:path>
            </a:pathLst>
          </a:custGeom>
          <a:solidFill>
            <a:srgbClr val="88AC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016255" y="6087980"/>
            <a:ext cx="389890" cy="328295"/>
          </a:xfrm>
          <a:custGeom>
            <a:avLst/>
            <a:gdLst/>
            <a:ahLst/>
            <a:cxnLst/>
            <a:rect l="l" t="t" r="r" b="b"/>
            <a:pathLst>
              <a:path w="389889" h="328295">
                <a:moveTo>
                  <a:pt x="371799" y="301588"/>
                </a:moveTo>
                <a:lnTo>
                  <a:pt x="371798" y="53586"/>
                </a:lnTo>
                <a:lnTo>
                  <a:pt x="354094" y="53586"/>
                </a:lnTo>
                <a:lnTo>
                  <a:pt x="354094" y="93443"/>
                </a:lnTo>
                <a:lnTo>
                  <a:pt x="327537" y="93443"/>
                </a:lnTo>
                <a:lnTo>
                  <a:pt x="327536" y="31443"/>
                </a:lnTo>
                <a:lnTo>
                  <a:pt x="327536" y="22143"/>
                </a:lnTo>
                <a:lnTo>
                  <a:pt x="329307" y="18600"/>
                </a:lnTo>
                <a:lnTo>
                  <a:pt x="329750" y="17714"/>
                </a:lnTo>
                <a:lnTo>
                  <a:pt x="333733" y="16828"/>
                </a:lnTo>
                <a:lnTo>
                  <a:pt x="336389" y="13285"/>
                </a:lnTo>
                <a:lnTo>
                  <a:pt x="336389" y="8857"/>
                </a:lnTo>
                <a:lnTo>
                  <a:pt x="336389" y="3985"/>
                </a:lnTo>
                <a:lnTo>
                  <a:pt x="332405" y="0"/>
                </a:lnTo>
                <a:lnTo>
                  <a:pt x="327536" y="442"/>
                </a:lnTo>
                <a:lnTo>
                  <a:pt x="257160" y="442"/>
                </a:lnTo>
                <a:lnTo>
                  <a:pt x="252291" y="0"/>
                </a:lnTo>
                <a:lnTo>
                  <a:pt x="248308" y="3985"/>
                </a:lnTo>
                <a:lnTo>
                  <a:pt x="247865" y="8857"/>
                </a:lnTo>
                <a:lnTo>
                  <a:pt x="247865" y="12842"/>
                </a:lnTo>
                <a:lnTo>
                  <a:pt x="250521" y="16385"/>
                </a:lnTo>
                <a:lnTo>
                  <a:pt x="254504" y="17714"/>
                </a:lnTo>
                <a:lnTo>
                  <a:pt x="254947" y="18600"/>
                </a:lnTo>
                <a:lnTo>
                  <a:pt x="256718" y="22143"/>
                </a:lnTo>
                <a:lnTo>
                  <a:pt x="256718" y="31443"/>
                </a:lnTo>
                <a:lnTo>
                  <a:pt x="256718" y="93443"/>
                </a:lnTo>
                <a:lnTo>
                  <a:pt x="230161" y="93443"/>
                </a:lnTo>
                <a:lnTo>
                  <a:pt x="230160" y="31443"/>
                </a:lnTo>
                <a:lnTo>
                  <a:pt x="230160" y="22143"/>
                </a:lnTo>
                <a:lnTo>
                  <a:pt x="231931" y="18600"/>
                </a:lnTo>
                <a:lnTo>
                  <a:pt x="232374" y="17714"/>
                </a:lnTo>
                <a:lnTo>
                  <a:pt x="236357" y="16828"/>
                </a:lnTo>
                <a:lnTo>
                  <a:pt x="239013" y="13285"/>
                </a:lnTo>
                <a:lnTo>
                  <a:pt x="239013" y="8857"/>
                </a:lnTo>
                <a:lnTo>
                  <a:pt x="239013" y="3985"/>
                </a:lnTo>
                <a:lnTo>
                  <a:pt x="235029" y="0"/>
                </a:lnTo>
                <a:lnTo>
                  <a:pt x="230160" y="442"/>
                </a:lnTo>
                <a:lnTo>
                  <a:pt x="159784" y="442"/>
                </a:lnTo>
                <a:lnTo>
                  <a:pt x="154915" y="0"/>
                </a:lnTo>
                <a:lnTo>
                  <a:pt x="150932" y="3985"/>
                </a:lnTo>
                <a:lnTo>
                  <a:pt x="150489" y="8857"/>
                </a:lnTo>
                <a:lnTo>
                  <a:pt x="150489" y="12842"/>
                </a:lnTo>
                <a:lnTo>
                  <a:pt x="153145" y="16385"/>
                </a:lnTo>
                <a:lnTo>
                  <a:pt x="157128" y="17714"/>
                </a:lnTo>
                <a:lnTo>
                  <a:pt x="157571" y="18600"/>
                </a:lnTo>
                <a:lnTo>
                  <a:pt x="159342" y="22143"/>
                </a:lnTo>
                <a:lnTo>
                  <a:pt x="159342" y="31443"/>
                </a:lnTo>
                <a:lnTo>
                  <a:pt x="159342" y="93443"/>
                </a:lnTo>
                <a:lnTo>
                  <a:pt x="132785" y="93443"/>
                </a:lnTo>
                <a:lnTo>
                  <a:pt x="132784" y="31443"/>
                </a:lnTo>
                <a:lnTo>
                  <a:pt x="132784" y="22143"/>
                </a:lnTo>
                <a:lnTo>
                  <a:pt x="134555" y="18600"/>
                </a:lnTo>
                <a:lnTo>
                  <a:pt x="134998" y="17714"/>
                </a:lnTo>
                <a:lnTo>
                  <a:pt x="138981" y="16828"/>
                </a:lnTo>
                <a:lnTo>
                  <a:pt x="141637" y="13285"/>
                </a:lnTo>
                <a:lnTo>
                  <a:pt x="141637" y="8857"/>
                </a:lnTo>
                <a:lnTo>
                  <a:pt x="141637" y="3985"/>
                </a:lnTo>
                <a:lnTo>
                  <a:pt x="137653" y="0"/>
                </a:lnTo>
                <a:lnTo>
                  <a:pt x="132784" y="442"/>
                </a:lnTo>
                <a:lnTo>
                  <a:pt x="62408" y="442"/>
                </a:lnTo>
                <a:lnTo>
                  <a:pt x="57539" y="0"/>
                </a:lnTo>
                <a:lnTo>
                  <a:pt x="53556" y="3985"/>
                </a:lnTo>
                <a:lnTo>
                  <a:pt x="53113" y="8857"/>
                </a:lnTo>
                <a:lnTo>
                  <a:pt x="53113" y="12842"/>
                </a:lnTo>
                <a:lnTo>
                  <a:pt x="55769" y="16385"/>
                </a:lnTo>
                <a:lnTo>
                  <a:pt x="59752" y="17714"/>
                </a:lnTo>
                <a:lnTo>
                  <a:pt x="60195" y="18600"/>
                </a:lnTo>
                <a:lnTo>
                  <a:pt x="61966" y="22143"/>
                </a:lnTo>
                <a:lnTo>
                  <a:pt x="61966" y="31443"/>
                </a:lnTo>
                <a:lnTo>
                  <a:pt x="61966" y="93443"/>
                </a:lnTo>
                <a:lnTo>
                  <a:pt x="35409" y="93443"/>
                </a:lnTo>
                <a:lnTo>
                  <a:pt x="35409" y="53586"/>
                </a:lnTo>
                <a:lnTo>
                  <a:pt x="17704" y="53586"/>
                </a:lnTo>
                <a:lnTo>
                  <a:pt x="17704" y="301588"/>
                </a:lnTo>
                <a:lnTo>
                  <a:pt x="0" y="301588"/>
                </a:lnTo>
                <a:lnTo>
                  <a:pt x="0" y="328160"/>
                </a:lnTo>
                <a:lnTo>
                  <a:pt x="389503" y="328160"/>
                </a:lnTo>
                <a:lnTo>
                  <a:pt x="389503" y="301588"/>
                </a:lnTo>
                <a:lnTo>
                  <a:pt x="371799" y="301588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289350" y="6106137"/>
            <a:ext cx="38100" cy="53340"/>
          </a:xfrm>
          <a:custGeom>
            <a:avLst/>
            <a:gdLst/>
            <a:ahLst/>
            <a:cxnLst/>
            <a:rect l="l" t="t" r="r" b="b"/>
            <a:pathLst>
              <a:path w="38100" h="53339">
                <a:moveTo>
                  <a:pt x="38065" y="0"/>
                </a:moveTo>
                <a:lnTo>
                  <a:pt x="37179" y="3542"/>
                </a:lnTo>
                <a:lnTo>
                  <a:pt x="36737" y="7971"/>
                </a:lnTo>
                <a:lnTo>
                  <a:pt x="36737" y="13285"/>
                </a:lnTo>
                <a:lnTo>
                  <a:pt x="36737" y="53143"/>
                </a:lnTo>
                <a:lnTo>
                  <a:pt x="27885" y="48714"/>
                </a:lnTo>
                <a:lnTo>
                  <a:pt x="19032" y="48714"/>
                </a:lnTo>
                <a:lnTo>
                  <a:pt x="10180" y="48714"/>
                </a:lnTo>
                <a:lnTo>
                  <a:pt x="1327" y="53143"/>
                </a:lnTo>
                <a:lnTo>
                  <a:pt x="1327" y="13285"/>
                </a:lnTo>
                <a:lnTo>
                  <a:pt x="1327" y="7971"/>
                </a:lnTo>
                <a:lnTo>
                  <a:pt x="885" y="3542"/>
                </a:lnTo>
                <a:lnTo>
                  <a:pt x="0" y="0"/>
                </a:lnTo>
                <a:lnTo>
                  <a:pt x="38065" y="0"/>
                </a:lnTo>
                <a:close/>
              </a:path>
            </a:pathLst>
          </a:custGeom>
          <a:ln w="5164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91974" y="6106137"/>
            <a:ext cx="38100" cy="53340"/>
          </a:xfrm>
          <a:custGeom>
            <a:avLst/>
            <a:gdLst/>
            <a:ahLst/>
            <a:cxnLst/>
            <a:rect l="l" t="t" r="r" b="b"/>
            <a:pathLst>
              <a:path w="38100" h="53339">
                <a:moveTo>
                  <a:pt x="38065" y="0"/>
                </a:moveTo>
                <a:lnTo>
                  <a:pt x="37179" y="3542"/>
                </a:lnTo>
                <a:lnTo>
                  <a:pt x="36737" y="7971"/>
                </a:lnTo>
                <a:lnTo>
                  <a:pt x="36737" y="13285"/>
                </a:lnTo>
                <a:lnTo>
                  <a:pt x="36737" y="53143"/>
                </a:lnTo>
                <a:lnTo>
                  <a:pt x="27885" y="48714"/>
                </a:lnTo>
                <a:lnTo>
                  <a:pt x="19032" y="48714"/>
                </a:lnTo>
                <a:lnTo>
                  <a:pt x="10180" y="48714"/>
                </a:lnTo>
                <a:lnTo>
                  <a:pt x="1327" y="53143"/>
                </a:lnTo>
                <a:lnTo>
                  <a:pt x="1327" y="13285"/>
                </a:lnTo>
                <a:lnTo>
                  <a:pt x="1327" y="7971"/>
                </a:lnTo>
                <a:lnTo>
                  <a:pt x="885" y="3542"/>
                </a:lnTo>
                <a:lnTo>
                  <a:pt x="0" y="0"/>
                </a:lnTo>
                <a:lnTo>
                  <a:pt x="38065" y="0"/>
                </a:lnTo>
                <a:close/>
              </a:path>
            </a:pathLst>
          </a:custGeom>
          <a:ln w="5164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094598" y="6106137"/>
            <a:ext cx="38100" cy="53340"/>
          </a:xfrm>
          <a:custGeom>
            <a:avLst/>
            <a:gdLst/>
            <a:ahLst/>
            <a:cxnLst/>
            <a:rect l="l" t="t" r="r" b="b"/>
            <a:pathLst>
              <a:path w="38100" h="53339">
                <a:moveTo>
                  <a:pt x="38065" y="0"/>
                </a:moveTo>
                <a:lnTo>
                  <a:pt x="37179" y="3542"/>
                </a:lnTo>
                <a:lnTo>
                  <a:pt x="36737" y="7971"/>
                </a:lnTo>
                <a:lnTo>
                  <a:pt x="36737" y="13285"/>
                </a:lnTo>
                <a:lnTo>
                  <a:pt x="36737" y="53143"/>
                </a:lnTo>
                <a:lnTo>
                  <a:pt x="27885" y="48714"/>
                </a:lnTo>
                <a:lnTo>
                  <a:pt x="19032" y="48714"/>
                </a:lnTo>
                <a:lnTo>
                  <a:pt x="10180" y="48714"/>
                </a:lnTo>
                <a:lnTo>
                  <a:pt x="1327" y="53143"/>
                </a:lnTo>
                <a:lnTo>
                  <a:pt x="1327" y="13285"/>
                </a:lnTo>
                <a:lnTo>
                  <a:pt x="1327" y="7971"/>
                </a:lnTo>
                <a:lnTo>
                  <a:pt x="885" y="3542"/>
                </a:lnTo>
                <a:lnTo>
                  <a:pt x="0" y="0"/>
                </a:lnTo>
                <a:lnTo>
                  <a:pt x="38065" y="0"/>
                </a:lnTo>
                <a:close/>
              </a:path>
            </a:pathLst>
          </a:custGeom>
          <a:ln w="5164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051665" y="6199138"/>
            <a:ext cx="318770" cy="190500"/>
          </a:xfrm>
          <a:custGeom>
            <a:avLst/>
            <a:gdLst/>
            <a:ahLst/>
            <a:cxnLst/>
            <a:rect l="l" t="t" r="r" b="b"/>
            <a:pathLst>
              <a:path w="318770" h="190500">
                <a:moveTo>
                  <a:pt x="318685" y="190430"/>
                </a:moveTo>
                <a:lnTo>
                  <a:pt x="0" y="190430"/>
                </a:lnTo>
                <a:lnTo>
                  <a:pt x="0" y="0"/>
                </a:lnTo>
                <a:lnTo>
                  <a:pt x="26557" y="0"/>
                </a:lnTo>
                <a:lnTo>
                  <a:pt x="26557" y="137287"/>
                </a:lnTo>
                <a:lnTo>
                  <a:pt x="29351" y="151043"/>
                </a:lnTo>
                <a:lnTo>
                  <a:pt x="36958" y="162308"/>
                </a:lnTo>
                <a:lnTo>
                  <a:pt x="48217" y="169920"/>
                </a:lnTo>
                <a:lnTo>
                  <a:pt x="61966" y="172716"/>
                </a:lnTo>
                <a:lnTo>
                  <a:pt x="75715" y="169920"/>
                </a:lnTo>
                <a:lnTo>
                  <a:pt x="86974" y="162308"/>
                </a:lnTo>
                <a:lnTo>
                  <a:pt x="94582" y="151043"/>
                </a:lnTo>
                <a:lnTo>
                  <a:pt x="97376" y="137287"/>
                </a:lnTo>
                <a:lnTo>
                  <a:pt x="97375" y="0"/>
                </a:lnTo>
                <a:lnTo>
                  <a:pt x="123933" y="0"/>
                </a:lnTo>
                <a:lnTo>
                  <a:pt x="123933" y="137287"/>
                </a:lnTo>
                <a:lnTo>
                  <a:pt x="145593" y="169920"/>
                </a:lnTo>
                <a:lnTo>
                  <a:pt x="159342" y="172716"/>
                </a:lnTo>
                <a:lnTo>
                  <a:pt x="173091" y="169920"/>
                </a:lnTo>
                <a:lnTo>
                  <a:pt x="184350" y="162308"/>
                </a:lnTo>
                <a:lnTo>
                  <a:pt x="191958" y="151043"/>
                </a:lnTo>
                <a:lnTo>
                  <a:pt x="194752" y="137287"/>
                </a:lnTo>
                <a:lnTo>
                  <a:pt x="194751" y="0"/>
                </a:lnTo>
                <a:lnTo>
                  <a:pt x="221309" y="0"/>
                </a:lnTo>
                <a:lnTo>
                  <a:pt x="221309" y="137287"/>
                </a:lnTo>
                <a:lnTo>
                  <a:pt x="242969" y="169920"/>
                </a:lnTo>
                <a:lnTo>
                  <a:pt x="256718" y="172716"/>
                </a:lnTo>
                <a:lnTo>
                  <a:pt x="270467" y="169920"/>
                </a:lnTo>
                <a:lnTo>
                  <a:pt x="281726" y="162308"/>
                </a:lnTo>
                <a:lnTo>
                  <a:pt x="289334" y="151043"/>
                </a:lnTo>
                <a:lnTo>
                  <a:pt x="292128" y="137287"/>
                </a:lnTo>
                <a:lnTo>
                  <a:pt x="292127" y="0"/>
                </a:lnTo>
                <a:lnTo>
                  <a:pt x="318685" y="0"/>
                </a:lnTo>
                <a:lnTo>
                  <a:pt x="318685" y="190430"/>
                </a:lnTo>
                <a:close/>
              </a:path>
            </a:pathLst>
          </a:custGeom>
          <a:ln w="5165">
            <a:solidFill>
              <a:srgbClr val="88AC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995415" y="6036564"/>
            <a:ext cx="429895" cy="429895"/>
          </a:xfrm>
          <a:custGeom>
            <a:avLst/>
            <a:gdLst/>
            <a:ahLst/>
            <a:cxnLst/>
            <a:rect l="l" t="t" r="r" b="b"/>
            <a:pathLst>
              <a:path w="429895" h="429895">
                <a:moveTo>
                  <a:pt x="0" y="429768"/>
                </a:moveTo>
                <a:lnTo>
                  <a:pt x="429767" y="429768"/>
                </a:lnTo>
                <a:lnTo>
                  <a:pt x="429767" y="0"/>
                </a:lnTo>
                <a:lnTo>
                  <a:pt x="0" y="0"/>
                </a:lnTo>
                <a:lnTo>
                  <a:pt x="0" y="42976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499"/>
              </a:lnSpc>
            </a:pPr>
            <a:r>
              <a:rPr b="1" spc="-35" dirty="0">
                <a:latin typeface="Arial"/>
                <a:cs typeface="Arial"/>
              </a:rPr>
              <a:t>Negotiable: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spc="15" dirty="0"/>
              <a:t>User</a:t>
            </a:r>
            <a:r>
              <a:rPr spc="-180" dirty="0"/>
              <a:t> </a:t>
            </a:r>
            <a:r>
              <a:rPr spc="5" dirty="0"/>
              <a:t>stories</a:t>
            </a:r>
            <a:r>
              <a:rPr spc="-150" dirty="0"/>
              <a:t> </a:t>
            </a:r>
            <a:r>
              <a:rPr spc="-25" dirty="0"/>
              <a:t>are</a:t>
            </a:r>
            <a:r>
              <a:rPr spc="-180" dirty="0"/>
              <a:t> </a:t>
            </a:r>
            <a:r>
              <a:rPr spc="-5" dirty="0"/>
              <a:t>flexible</a:t>
            </a:r>
            <a:r>
              <a:rPr spc="-1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dirty="0"/>
              <a:t>open  </a:t>
            </a:r>
            <a:r>
              <a:rPr spc="-15" dirty="0"/>
              <a:t>to</a:t>
            </a:r>
            <a:r>
              <a:rPr spc="-185" dirty="0"/>
              <a:t> </a:t>
            </a:r>
            <a:r>
              <a:rPr spc="30" dirty="0"/>
              <a:t>discussion</a:t>
            </a:r>
            <a:r>
              <a:rPr spc="-175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spc="-15" dirty="0"/>
              <a:t>refinement.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 marR="443230">
              <a:lnSpc>
                <a:spcPct val="100499"/>
              </a:lnSpc>
            </a:pPr>
            <a:r>
              <a:rPr b="1" spc="-40" dirty="0">
                <a:latin typeface="Arial"/>
                <a:cs typeface="Arial"/>
              </a:rPr>
              <a:t>Valuable: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spc="15" dirty="0"/>
              <a:t>User</a:t>
            </a:r>
            <a:r>
              <a:rPr spc="-185" dirty="0"/>
              <a:t> </a:t>
            </a:r>
            <a:r>
              <a:rPr spc="5" dirty="0"/>
              <a:t>stories</a:t>
            </a:r>
            <a:r>
              <a:rPr spc="-170" dirty="0"/>
              <a:t> </a:t>
            </a:r>
            <a:r>
              <a:rPr spc="-10" dirty="0"/>
              <a:t>deliver</a:t>
            </a:r>
            <a:r>
              <a:rPr spc="-185" dirty="0"/>
              <a:t> </a:t>
            </a:r>
            <a:r>
              <a:rPr spc="-10" dirty="0"/>
              <a:t>value</a:t>
            </a:r>
            <a:r>
              <a:rPr spc="-165" dirty="0"/>
              <a:t> </a:t>
            </a:r>
            <a:r>
              <a:rPr spc="-15" dirty="0"/>
              <a:t>to</a:t>
            </a:r>
            <a:r>
              <a:rPr spc="-185" dirty="0"/>
              <a:t> </a:t>
            </a:r>
            <a:r>
              <a:rPr spc="-15" dirty="0"/>
              <a:t>the  </a:t>
            </a:r>
            <a:r>
              <a:rPr dirty="0"/>
              <a:t>user </a:t>
            </a:r>
            <a:r>
              <a:rPr spc="-20" dirty="0"/>
              <a:t>or</a:t>
            </a:r>
            <a:r>
              <a:rPr spc="-430" dirty="0"/>
              <a:t> </a:t>
            </a:r>
            <a:r>
              <a:rPr spc="-5" dirty="0"/>
              <a:t>customer.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 marR="219075">
              <a:lnSpc>
                <a:spcPct val="101699"/>
              </a:lnSpc>
            </a:pPr>
            <a:r>
              <a:rPr b="1" spc="-40" dirty="0">
                <a:latin typeface="Arial"/>
                <a:cs typeface="Arial"/>
              </a:rPr>
              <a:t>Estimable: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User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stories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can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be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estimated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in  </a:t>
            </a:r>
            <a:r>
              <a:rPr dirty="0">
                <a:latin typeface="Arial"/>
                <a:cs typeface="Arial"/>
              </a:rPr>
              <a:t>terms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10" dirty="0">
                <a:latin typeface="Arial"/>
                <a:cs typeface="Arial"/>
              </a:rPr>
              <a:t>of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effort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or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complexity.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 marR="365125">
              <a:lnSpc>
                <a:spcPct val="101600"/>
              </a:lnSpc>
            </a:pPr>
            <a:r>
              <a:rPr b="1" spc="-25" dirty="0">
                <a:latin typeface="Arial"/>
                <a:cs typeface="Arial"/>
              </a:rPr>
              <a:t>Small: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User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stories</a:t>
            </a:r>
            <a:r>
              <a:rPr spc="-8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are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20" dirty="0">
                <a:latin typeface="Arial"/>
                <a:cs typeface="Arial"/>
              </a:rPr>
              <a:t>small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enough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20" dirty="0">
                <a:latin typeface="Arial"/>
                <a:cs typeface="Arial"/>
              </a:rPr>
              <a:t>to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be  </a:t>
            </a:r>
            <a:r>
              <a:rPr spc="5" dirty="0">
                <a:latin typeface="Arial"/>
                <a:cs typeface="Arial"/>
              </a:rPr>
              <a:t>completed </a:t>
            </a:r>
            <a:r>
              <a:rPr spc="20" dirty="0">
                <a:latin typeface="Arial"/>
                <a:cs typeface="Arial"/>
              </a:rPr>
              <a:t>within </a:t>
            </a:r>
            <a:r>
              <a:rPr spc="-30" dirty="0">
                <a:latin typeface="Arial"/>
                <a:cs typeface="Arial"/>
              </a:rPr>
              <a:t>an</a:t>
            </a:r>
            <a:r>
              <a:rPr spc="-3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iteration.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 marR="152400">
              <a:lnSpc>
                <a:spcPct val="100499"/>
              </a:lnSpc>
              <a:spcBef>
                <a:spcPts val="5"/>
              </a:spcBef>
            </a:pPr>
            <a:r>
              <a:rPr b="1" spc="-55" dirty="0">
                <a:latin typeface="Arial"/>
                <a:cs typeface="Arial"/>
              </a:rPr>
              <a:t>Testable: </a:t>
            </a:r>
            <a:r>
              <a:rPr spc="15" dirty="0"/>
              <a:t>User </a:t>
            </a:r>
            <a:r>
              <a:rPr spc="5" dirty="0"/>
              <a:t>stories </a:t>
            </a:r>
            <a:r>
              <a:rPr spc="30" dirty="0"/>
              <a:t>can </a:t>
            </a:r>
            <a:r>
              <a:rPr spc="5" dirty="0"/>
              <a:t>be </a:t>
            </a:r>
            <a:r>
              <a:rPr spc="-5" dirty="0"/>
              <a:t>validated </a:t>
            </a:r>
            <a:r>
              <a:rPr dirty="0"/>
              <a:t>and  </a:t>
            </a:r>
            <a:r>
              <a:rPr spc="-5" dirty="0"/>
              <a:t>tested</a:t>
            </a:r>
            <a:r>
              <a:rPr spc="-145" dirty="0"/>
              <a:t> </a:t>
            </a:r>
            <a:r>
              <a:rPr spc="-15" dirty="0"/>
              <a:t>to</a:t>
            </a:r>
            <a:r>
              <a:rPr spc="-170" dirty="0"/>
              <a:t> </a:t>
            </a:r>
            <a:r>
              <a:rPr spc="-10" dirty="0"/>
              <a:t>ensure</a:t>
            </a:r>
            <a:r>
              <a:rPr spc="-150" dirty="0"/>
              <a:t> </a:t>
            </a:r>
            <a:r>
              <a:rPr spc="35" dirty="0"/>
              <a:t>successful</a:t>
            </a:r>
            <a:r>
              <a:rPr spc="-140" dirty="0"/>
              <a:t> </a:t>
            </a:r>
            <a:r>
              <a:rPr dirty="0"/>
              <a:t>implementation.</a:t>
            </a:r>
          </a:p>
        </p:txBody>
      </p:sp>
      <p:sp>
        <p:nvSpPr>
          <p:cNvPr id="62" name="object 62"/>
          <p:cNvSpPr/>
          <p:nvPr/>
        </p:nvSpPr>
        <p:spPr>
          <a:xfrm>
            <a:off x="1177759" y="2434463"/>
            <a:ext cx="3519170" cy="367665"/>
          </a:xfrm>
          <a:custGeom>
            <a:avLst/>
            <a:gdLst/>
            <a:ahLst/>
            <a:cxnLst/>
            <a:rect l="l" t="t" r="r" b="b"/>
            <a:pathLst>
              <a:path w="3519170" h="367664">
                <a:moveTo>
                  <a:pt x="0" y="367284"/>
                </a:moveTo>
                <a:lnTo>
                  <a:pt x="3518916" y="367284"/>
                </a:lnTo>
                <a:lnTo>
                  <a:pt x="3518916" y="0"/>
                </a:lnTo>
                <a:lnTo>
                  <a:pt x="0" y="0"/>
                </a:lnTo>
                <a:lnTo>
                  <a:pt x="0" y="36728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96595" y="2015616"/>
            <a:ext cx="4432935" cy="120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Tahoma"/>
                <a:cs typeface="Tahoma"/>
              </a:rPr>
              <a:t>Set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of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guidelines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used</a:t>
            </a:r>
            <a:r>
              <a:rPr sz="2400" spc="-2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to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evaluate</a:t>
            </a:r>
            <a:endParaRPr sz="2400">
              <a:latin typeface="Tahoma"/>
              <a:cs typeface="Tahoma"/>
            </a:endParaRPr>
          </a:p>
          <a:p>
            <a:pPr marL="12700" marR="83185">
              <a:lnSpc>
                <a:spcPct val="110000"/>
              </a:lnSpc>
            </a:pPr>
            <a:r>
              <a:rPr sz="2400" dirty="0">
                <a:latin typeface="Tahoma"/>
                <a:cs typeface="Tahoma"/>
              </a:rPr>
              <a:t>and</a:t>
            </a:r>
            <a:r>
              <a:rPr sz="2400" spc="-229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write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effective</a:t>
            </a:r>
            <a:r>
              <a:rPr sz="2400" spc="-235" dirty="0">
                <a:latin typeface="Tahoma"/>
                <a:cs typeface="Tahoma"/>
              </a:rPr>
              <a:t> </a:t>
            </a:r>
            <a:r>
              <a:rPr sz="2400" spc="5" dirty="0">
                <a:latin typeface="Tahoma"/>
                <a:cs typeface="Tahoma"/>
              </a:rPr>
              <a:t>user</a:t>
            </a:r>
            <a:r>
              <a:rPr sz="2400" spc="-254" dirty="0">
                <a:latin typeface="Tahoma"/>
                <a:cs typeface="Tahoma"/>
              </a:rPr>
              <a:t> </a:t>
            </a:r>
            <a:r>
              <a:rPr sz="2400" spc="10" dirty="0">
                <a:latin typeface="Tahoma"/>
                <a:cs typeface="Tahoma"/>
              </a:rPr>
              <a:t>stories</a:t>
            </a:r>
            <a:r>
              <a:rPr sz="2400" spc="-2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  </a:t>
            </a:r>
            <a:r>
              <a:rPr sz="2400" spc="-10" dirty="0">
                <a:latin typeface="Tahoma"/>
                <a:cs typeface="Tahoma"/>
              </a:rPr>
              <a:t>Agile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development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10411" y="3294888"/>
            <a:ext cx="3105912" cy="3105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0622280" y="0"/>
            <a:ext cx="1245107" cy="835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981202"/>
            <a:ext cx="5420995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Epics </a:t>
            </a:r>
            <a:r>
              <a:rPr spc="15" dirty="0"/>
              <a:t>and</a:t>
            </a:r>
            <a:r>
              <a:rPr spc="-1225" dirty="0"/>
              <a:t> </a:t>
            </a:r>
            <a:r>
              <a:rPr spc="-55" dirty="0"/>
              <a:t>Themes</a:t>
            </a:r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269223" y="656844"/>
            <a:ext cx="2764535" cy="2764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5122" y="1998217"/>
            <a:ext cx="6768465" cy="4779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Definitions:</a:t>
            </a:r>
            <a:endParaRPr sz="18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10" dirty="0">
                <a:latin typeface="Tahoma"/>
                <a:cs typeface="Tahoma"/>
              </a:rPr>
              <a:t>Epics: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Large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user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stories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that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can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be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broken</a:t>
            </a:r>
            <a:r>
              <a:rPr sz="1800" spc="-15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down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into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smaller,</a:t>
            </a:r>
            <a:endParaRPr sz="1800">
              <a:latin typeface="Tahoma"/>
              <a:cs typeface="Tahoma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more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manageable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user</a:t>
            </a:r>
            <a:r>
              <a:rPr sz="1800" spc="-1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stories.</a:t>
            </a:r>
            <a:endParaRPr sz="1800">
              <a:latin typeface="Tahoma"/>
              <a:cs typeface="Tahoma"/>
            </a:endParaRPr>
          </a:p>
          <a:p>
            <a:pPr marL="287020" marR="5080" indent="-2743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-35" dirty="0">
                <a:latin typeface="Tahoma"/>
                <a:cs typeface="Tahoma"/>
              </a:rPr>
              <a:t>Themes: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Clusters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of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related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epics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that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provide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high-level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30" dirty="0">
                <a:latin typeface="Tahoma"/>
                <a:cs typeface="Tahoma"/>
              </a:rPr>
              <a:t>view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of  </a:t>
            </a:r>
            <a:r>
              <a:rPr sz="1800" spc="-10" dirty="0">
                <a:latin typeface="Tahoma"/>
                <a:cs typeface="Tahoma"/>
              </a:rPr>
              <a:t>the</a:t>
            </a:r>
            <a:r>
              <a:rPr sz="1800" spc="-254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project.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spc="-25" dirty="0">
                <a:latin typeface="Tahoma"/>
                <a:cs typeface="Tahoma"/>
              </a:rPr>
              <a:t>Differentiating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Epics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and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User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Stories:</a:t>
            </a:r>
            <a:endParaRPr sz="18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40" dirty="0">
                <a:latin typeface="Tahoma"/>
                <a:cs typeface="Tahoma"/>
              </a:rPr>
              <a:t>Epics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represent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broader</a:t>
            </a:r>
            <a:r>
              <a:rPr sz="1800" spc="-14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functionalities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or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features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that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may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15" dirty="0">
                <a:latin typeface="Tahoma"/>
                <a:cs typeface="Tahoma"/>
              </a:rPr>
              <a:t>span</a:t>
            </a:r>
            <a:endParaRPr sz="1800">
              <a:latin typeface="Tahoma"/>
              <a:cs typeface="Tahoma"/>
            </a:endParaRPr>
          </a:p>
          <a:p>
            <a:pPr marL="287020">
              <a:lnSpc>
                <a:spcPct val="100000"/>
              </a:lnSpc>
            </a:pPr>
            <a:r>
              <a:rPr sz="1800" spc="20" dirty="0">
                <a:latin typeface="Tahoma"/>
                <a:cs typeface="Tahoma"/>
              </a:rPr>
              <a:t>multiple</a:t>
            </a:r>
            <a:r>
              <a:rPr sz="1800" spc="-21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iterations.</a:t>
            </a:r>
            <a:endParaRPr sz="1800">
              <a:latin typeface="Tahoma"/>
              <a:cs typeface="Tahoma"/>
            </a:endParaRPr>
          </a:p>
          <a:p>
            <a:pPr marL="287020" marR="100330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10" dirty="0">
                <a:latin typeface="Tahoma"/>
                <a:cs typeface="Tahoma"/>
              </a:rPr>
              <a:t>User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stories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are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smaller,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more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granular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requirements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that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can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  </a:t>
            </a:r>
            <a:r>
              <a:rPr sz="1800" spc="25" dirty="0">
                <a:latin typeface="Tahoma"/>
                <a:cs typeface="Tahoma"/>
              </a:rPr>
              <a:t>completed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within</a:t>
            </a:r>
            <a:r>
              <a:rPr sz="1800" spc="-22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single</a:t>
            </a:r>
            <a:r>
              <a:rPr sz="1800" spc="-20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iteration.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5" dirty="0">
                <a:latin typeface="Tahoma"/>
                <a:cs typeface="Tahoma"/>
              </a:rPr>
              <a:t>Examples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of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40" dirty="0">
                <a:latin typeface="Tahoma"/>
                <a:cs typeface="Tahoma"/>
              </a:rPr>
              <a:t>Epics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and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Themes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a</a:t>
            </a:r>
            <a:r>
              <a:rPr sz="1800" spc="-175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Job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Portal:</a:t>
            </a:r>
            <a:endParaRPr sz="18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dirty="0">
                <a:latin typeface="Tahoma"/>
                <a:cs typeface="Tahoma"/>
              </a:rPr>
              <a:t>Epic: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"As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an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employer,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04" dirty="0">
                <a:latin typeface="Tahoma"/>
                <a:cs typeface="Tahoma"/>
              </a:rPr>
              <a:t>I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want</a:t>
            </a:r>
            <a:r>
              <a:rPr sz="1800" spc="-1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to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post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job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listings</a:t>
            </a:r>
            <a:r>
              <a:rPr sz="1800" spc="-195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with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detailed</a:t>
            </a:r>
            <a:endParaRPr sz="1800">
              <a:latin typeface="Tahoma"/>
              <a:cs typeface="Tahoma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descriptions."</a:t>
            </a:r>
            <a:endParaRPr sz="1800">
              <a:latin typeface="Tahoma"/>
              <a:cs typeface="Tahoma"/>
            </a:endParaRPr>
          </a:p>
          <a:p>
            <a:pPr marL="287020" marR="125095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-50" dirty="0">
                <a:latin typeface="Tahoma"/>
                <a:cs typeface="Tahoma"/>
              </a:rPr>
              <a:t>Theme: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"Enhancing</a:t>
            </a:r>
            <a:r>
              <a:rPr sz="1800" spc="-21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Job</a:t>
            </a:r>
            <a:r>
              <a:rPr sz="1800" spc="-160" dirty="0">
                <a:latin typeface="Tahoma"/>
                <a:cs typeface="Tahoma"/>
              </a:rPr>
              <a:t> </a:t>
            </a:r>
            <a:r>
              <a:rPr sz="1800" spc="10" dirty="0">
                <a:latin typeface="Tahoma"/>
                <a:cs typeface="Tahoma"/>
              </a:rPr>
              <a:t>Search</a:t>
            </a:r>
            <a:r>
              <a:rPr sz="1800" spc="-155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and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15" dirty="0">
                <a:latin typeface="Tahoma"/>
                <a:cs typeface="Tahoma"/>
              </a:rPr>
              <a:t>Filtering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Functionality</a:t>
            </a:r>
            <a:r>
              <a:rPr sz="1800" spc="-18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for</a:t>
            </a:r>
            <a:r>
              <a:rPr sz="1800" spc="-170" dirty="0">
                <a:latin typeface="Tahoma"/>
                <a:cs typeface="Tahoma"/>
              </a:rPr>
              <a:t> </a:t>
            </a:r>
            <a:r>
              <a:rPr sz="1800" spc="-40" dirty="0">
                <a:latin typeface="Tahoma"/>
                <a:cs typeface="Tahoma"/>
              </a:rPr>
              <a:t>Job  </a:t>
            </a:r>
            <a:r>
              <a:rPr sz="1800" spc="-45" dirty="0">
                <a:latin typeface="Tahoma"/>
                <a:cs typeface="Tahoma"/>
              </a:rPr>
              <a:t>Seekers."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95388" y="3968496"/>
            <a:ext cx="4710684" cy="2097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8768" y="6233159"/>
            <a:ext cx="4023360" cy="0"/>
          </a:xfrm>
          <a:custGeom>
            <a:avLst/>
            <a:gdLst/>
            <a:ahLst/>
            <a:cxnLst/>
            <a:rect l="l" t="t" r="r" b="b"/>
            <a:pathLst>
              <a:path w="4023359">
                <a:moveTo>
                  <a:pt x="0" y="0"/>
                </a:moveTo>
                <a:lnTo>
                  <a:pt x="402336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22280" y="0"/>
            <a:ext cx="1245107" cy="835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5" dirty="0"/>
              <a:t>Backlog</a:t>
            </a:r>
            <a:r>
              <a:rPr spc="-545" dirty="0"/>
              <a:t> </a:t>
            </a:r>
            <a:r>
              <a:rPr spc="-15" dirty="0"/>
              <a:t>Refineme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0605" y="1063578"/>
            <a:ext cx="6086475" cy="528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830"/>
              </a:lnSpc>
            </a:pPr>
            <a:r>
              <a:rPr sz="5400" spc="-50" dirty="0">
                <a:latin typeface="Tahoma"/>
                <a:cs typeface="Tahoma"/>
              </a:rPr>
              <a:t>nt</a:t>
            </a:r>
            <a:endParaRPr sz="5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5044" y="3086100"/>
            <a:ext cx="4189476" cy="3142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2280" y="0"/>
            <a:ext cx="1245107" cy="835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81928" y="1382267"/>
            <a:ext cx="5754624" cy="4968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88952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048" y="6858000"/>
                </a:lnTo>
                <a:lnTo>
                  <a:pt x="304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0E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6595" y="985265"/>
            <a:ext cx="5585460" cy="154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00" spc="20" dirty="0">
                <a:latin typeface="Tahoma"/>
                <a:cs typeface="Tahoma"/>
              </a:rPr>
              <a:t>Backlog</a:t>
            </a:r>
            <a:r>
              <a:rPr sz="4900" spc="-520" dirty="0">
                <a:latin typeface="Tahoma"/>
                <a:cs typeface="Tahoma"/>
              </a:rPr>
              <a:t> </a:t>
            </a:r>
            <a:r>
              <a:rPr sz="4900" spc="-50" dirty="0">
                <a:latin typeface="Tahoma"/>
                <a:cs typeface="Tahoma"/>
              </a:rPr>
              <a:t>Refinement:</a:t>
            </a:r>
            <a:endParaRPr sz="4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4900" spc="30" dirty="0">
                <a:latin typeface="Tahoma"/>
                <a:cs typeface="Tahoma"/>
              </a:rPr>
              <a:t>Activities</a:t>
            </a:r>
            <a:r>
              <a:rPr sz="4900" spc="-505" dirty="0">
                <a:latin typeface="Tahoma"/>
                <a:cs typeface="Tahoma"/>
              </a:rPr>
              <a:t> </a:t>
            </a:r>
            <a:r>
              <a:rPr sz="4900" spc="-95" dirty="0">
                <a:latin typeface="Tahoma"/>
                <a:cs typeface="Tahoma"/>
              </a:rPr>
              <a:t>Involved</a:t>
            </a:r>
            <a:endParaRPr sz="49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" y="2753867"/>
            <a:ext cx="5431535" cy="3517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2280" y="0"/>
            <a:ext cx="1245107" cy="835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6747" y="1085088"/>
            <a:ext cx="5109972" cy="5522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978153"/>
            <a:ext cx="5855335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0" dirty="0">
                <a:latin typeface="Arial"/>
                <a:cs typeface="Arial"/>
              </a:rPr>
              <a:t>Use </a:t>
            </a:r>
            <a:r>
              <a:rPr spc="-135" dirty="0">
                <a:latin typeface="Arial"/>
                <a:cs typeface="Arial"/>
              </a:rPr>
              <a:t>Case</a:t>
            </a:r>
            <a:r>
              <a:rPr spc="-570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Diagrams</a:t>
            </a:r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4380" y="2203704"/>
            <a:ext cx="5093208" cy="4241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07783" y="888619"/>
            <a:ext cx="3105150" cy="26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5" dirty="0">
                <a:latin typeface="Arial"/>
                <a:cs typeface="Arial"/>
              </a:rPr>
              <a:t>Definition </a:t>
            </a:r>
            <a:r>
              <a:rPr sz="1600" b="1" spc="-35" dirty="0">
                <a:latin typeface="Arial"/>
                <a:cs typeface="Arial"/>
              </a:rPr>
              <a:t>of </a:t>
            </a:r>
            <a:r>
              <a:rPr sz="1600" b="1" spc="-40" dirty="0">
                <a:latin typeface="Arial"/>
                <a:cs typeface="Arial"/>
              </a:rPr>
              <a:t>Use </a:t>
            </a:r>
            <a:r>
              <a:rPr sz="1600" b="1" spc="-25" dirty="0">
                <a:latin typeface="Arial"/>
                <a:cs typeface="Arial"/>
              </a:rPr>
              <a:t>Case</a:t>
            </a:r>
            <a:r>
              <a:rPr sz="1600" b="1" spc="-9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Diagrams: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7783" y="1199769"/>
            <a:ext cx="4724400" cy="962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278130" indent="-274320">
              <a:lnSpc>
                <a:spcPts val="1730"/>
              </a:lnSpc>
              <a:buChar char="•"/>
              <a:tabLst>
                <a:tab pos="286385" algn="l"/>
                <a:tab pos="287020" algn="l"/>
              </a:tabLst>
            </a:pPr>
            <a:r>
              <a:rPr sz="1600" spc="-45" dirty="0">
                <a:latin typeface="Arial"/>
                <a:cs typeface="Arial"/>
              </a:rPr>
              <a:t>Use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case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diagrams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depict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interactions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between  </a:t>
            </a:r>
            <a:r>
              <a:rPr sz="1600" dirty="0">
                <a:latin typeface="Arial"/>
                <a:cs typeface="Arial"/>
              </a:rPr>
              <a:t>actors</a:t>
            </a:r>
            <a:r>
              <a:rPr sz="1600" spc="-125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(users)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system.</a:t>
            </a:r>
            <a:endParaRPr sz="1600">
              <a:latin typeface="Arial"/>
              <a:cs typeface="Arial"/>
            </a:endParaRPr>
          </a:p>
          <a:p>
            <a:pPr marL="287020" marR="5080" indent="-274320">
              <a:lnSpc>
                <a:spcPts val="173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95" dirty="0">
                <a:latin typeface="Arial"/>
                <a:cs typeface="Arial"/>
              </a:rPr>
              <a:t>They </a:t>
            </a:r>
            <a:r>
              <a:rPr sz="1600" spc="10" dirty="0">
                <a:latin typeface="Arial"/>
                <a:cs typeface="Arial"/>
              </a:rPr>
              <a:t>illustrate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10" dirty="0">
                <a:latin typeface="Arial"/>
                <a:cs typeface="Arial"/>
              </a:rPr>
              <a:t>functionality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behavior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of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  </a:t>
            </a:r>
            <a:r>
              <a:rPr sz="1600" spc="-25" dirty="0">
                <a:latin typeface="Arial"/>
                <a:cs typeface="Arial"/>
              </a:rPr>
              <a:t>system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from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a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user's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perspective.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7783" y="2240660"/>
            <a:ext cx="4657725" cy="3850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30" dirty="0">
                <a:latin typeface="Arial"/>
                <a:cs typeface="Arial"/>
              </a:rPr>
              <a:t>Elements </a:t>
            </a:r>
            <a:r>
              <a:rPr sz="1600" b="1" spc="-35" dirty="0">
                <a:latin typeface="Arial"/>
                <a:cs typeface="Arial"/>
              </a:rPr>
              <a:t>of </a:t>
            </a:r>
            <a:r>
              <a:rPr sz="1600" b="1" spc="-40" dirty="0">
                <a:latin typeface="Arial"/>
                <a:cs typeface="Arial"/>
              </a:rPr>
              <a:t>Use </a:t>
            </a:r>
            <a:r>
              <a:rPr sz="1600" b="1" spc="-25" dirty="0">
                <a:latin typeface="Arial"/>
                <a:cs typeface="Arial"/>
              </a:rPr>
              <a:t>Case</a:t>
            </a:r>
            <a:r>
              <a:rPr sz="1600" b="1" spc="-12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Diagrams: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ts val="1825"/>
              </a:lnSpc>
              <a:spcBef>
                <a:spcPts val="30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600" b="1" spc="-50" dirty="0">
                <a:latin typeface="Arial"/>
                <a:cs typeface="Arial"/>
              </a:rPr>
              <a:t>Actors</a:t>
            </a:r>
            <a:r>
              <a:rPr sz="1600" spc="-50" dirty="0">
                <a:latin typeface="Arial"/>
                <a:cs typeface="Arial"/>
              </a:rPr>
              <a:t>: </a:t>
            </a:r>
            <a:r>
              <a:rPr sz="1600" spc="-40" dirty="0">
                <a:latin typeface="Arial"/>
                <a:cs typeface="Arial"/>
              </a:rPr>
              <a:t>Represent </a:t>
            </a:r>
            <a:r>
              <a:rPr sz="1600" spc="-5" dirty="0">
                <a:latin typeface="Arial"/>
                <a:cs typeface="Arial"/>
              </a:rPr>
              <a:t>individuals, roles, </a:t>
            </a:r>
            <a:r>
              <a:rPr sz="1600" spc="-10" dirty="0">
                <a:latin typeface="Arial"/>
                <a:cs typeface="Arial"/>
              </a:rPr>
              <a:t>or</a:t>
            </a:r>
            <a:r>
              <a:rPr sz="1600" spc="-31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external</a:t>
            </a:r>
            <a:endParaRPr sz="1600">
              <a:latin typeface="Arial"/>
              <a:cs typeface="Arial"/>
            </a:endParaRPr>
          </a:p>
          <a:p>
            <a:pPr marL="287020">
              <a:lnSpc>
                <a:spcPts val="1825"/>
              </a:lnSpc>
            </a:pPr>
            <a:r>
              <a:rPr sz="1600" spc="-25" dirty="0">
                <a:latin typeface="Arial"/>
                <a:cs typeface="Arial"/>
              </a:rPr>
              <a:t>systems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interacting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20" dirty="0">
                <a:latin typeface="Arial"/>
                <a:cs typeface="Arial"/>
              </a:rPr>
              <a:t>with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system.</a:t>
            </a:r>
            <a:endParaRPr sz="1600">
              <a:latin typeface="Arial"/>
              <a:cs typeface="Arial"/>
            </a:endParaRPr>
          </a:p>
          <a:p>
            <a:pPr marL="287020" marR="109220" indent="-274320">
              <a:lnSpc>
                <a:spcPts val="1730"/>
              </a:lnSpc>
              <a:spcBef>
                <a:spcPts val="52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600" b="1" spc="-40" dirty="0">
                <a:latin typeface="Arial"/>
                <a:cs typeface="Arial"/>
              </a:rPr>
              <a:t>Use </a:t>
            </a:r>
            <a:r>
              <a:rPr sz="1600" b="1" spc="-25" dirty="0">
                <a:latin typeface="Arial"/>
                <a:cs typeface="Arial"/>
              </a:rPr>
              <a:t>Cases</a:t>
            </a:r>
            <a:r>
              <a:rPr sz="1600" spc="-25" dirty="0">
                <a:latin typeface="Arial"/>
                <a:cs typeface="Arial"/>
              </a:rPr>
              <a:t>: </a:t>
            </a:r>
            <a:r>
              <a:rPr sz="1600" spc="-40" dirty="0">
                <a:latin typeface="Arial"/>
                <a:cs typeface="Arial"/>
              </a:rPr>
              <a:t>Represent </a:t>
            </a:r>
            <a:r>
              <a:rPr sz="1600" spc="10" dirty="0">
                <a:latin typeface="Arial"/>
                <a:cs typeface="Arial"/>
              </a:rPr>
              <a:t>specific functionalities</a:t>
            </a:r>
            <a:r>
              <a:rPr sz="1600" spc="-3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or  </a:t>
            </a:r>
            <a:r>
              <a:rPr sz="1600" spc="5" dirty="0">
                <a:latin typeface="Arial"/>
                <a:cs typeface="Arial"/>
              </a:rPr>
              <a:t>actions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that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system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performs.</a:t>
            </a:r>
            <a:endParaRPr sz="1600">
              <a:latin typeface="Arial"/>
              <a:cs typeface="Arial"/>
            </a:endParaRPr>
          </a:p>
          <a:p>
            <a:pPr marL="287020" marR="558165" indent="-274320">
              <a:lnSpc>
                <a:spcPts val="1730"/>
              </a:lnSpc>
              <a:spcBef>
                <a:spcPts val="50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600" b="1" spc="-40" dirty="0">
                <a:latin typeface="Arial"/>
                <a:cs typeface="Arial"/>
              </a:rPr>
              <a:t>Relationships</a:t>
            </a:r>
            <a:r>
              <a:rPr sz="1600" spc="-40" dirty="0">
                <a:latin typeface="Arial"/>
                <a:cs typeface="Arial"/>
              </a:rPr>
              <a:t>: </a:t>
            </a:r>
            <a:r>
              <a:rPr sz="1600" spc="-55" dirty="0">
                <a:latin typeface="Arial"/>
                <a:cs typeface="Arial"/>
              </a:rPr>
              <a:t>Show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associations </a:t>
            </a:r>
            <a:r>
              <a:rPr sz="1600" spc="-15" dirty="0">
                <a:latin typeface="Arial"/>
                <a:cs typeface="Arial"/>
              </a:rPr>
              <a:t>and  </a:t>
            </a:r>
            <a:r>
              <a:rPr sz="1600" dirty="0">
                <a:latin typeface="Arial"/>
                <a:cs typeface="Arial"/>
              </a:rPr>
              <a:t>interactions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between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actors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30" dirty="0">
                <a:latin typeface="Arial"/>
                <a:cs typeface="Arial"/>
              </a:rPr>
              <a:t>use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cases.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775"/>
              </a:spcBef>
            </a:pPr>
            <a:r>
              <a:rPr sz="1600" b="1" spc="-40" dirty="0">
                <a:latin typeface="Arial"/>
                <a:cs typeface="Arial"/>
              </a:rPr>
              <a:t>Benefits </a:t>
            </a:r>
            <a:r>
              <a:rPr sz="1600" b="1" spc="-35" dirty="0">
                <a:latin typeface="Arial"/>
                <a:cs typeface="Arial"/>
              </a:rPr>
              <a:t>of </a:t>
            </a:r>
            <a:r>
              <a:rPr sz="1600" b="1" spc="-40" dirty="0">
                <a:latin typeface="Arial"/>
                <a:cs typeface="Arial"/>
              </a:rPr>
              <a:t>Use </a:t>
            </a:r>
            <a:r>
              <a:rPr sz="1600" b="1" spc="-25" dirty="0">
                <a:latin typeface="Arial"/>
                <a:cs typeface="Arial"/>
              </a:rPr>
              <a:t>Case </a:t>
            </a:r>
            <a:r>
              <a:rPr sz="1600" b="1" spc="-45" dirty="0">
                <a:latin typeface="Arial"/>
                <a:cs typeface="Arial"/>
              </a:rPr>
              <a:t>Diagrams </a:t>
            </a:r>
            <a:r>
              <a:rPr sz="1600" b="1" spc="-40" dirty="0">
                <a:latin typeface="Arial"/>
                <a:cs typeface="Arial"/>
              </a:rPr>
              <a:t>for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35" dirty="0">
                <a:latin typeface="Arial"/>
                <a:cs typeface="Arial"/>
              </a:rPr>
              <a:t>Requirement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</a:pPr>
            <a:r>
              <a:rPr sz="1600" b="1" spc="-60" dirty="0">
                <a:latin typeface="Arial"/>
                <a:cs typeface="Arial"/>
              </a:rPr>
              <a:t>Analysis:</a:t>
            </a:r>
            <a:endParaRPr sz="1600">
              <a:latin typeface="Arial"/>
              <a:cs typeface="Arial"/>
            </a:endParaRPr>
          </a:p>
          <a:p>
            <a:pPr marL="287020" marR="5080" indent="-274320">
              <a:lnSpc>
                <a:spcPts val="1730"/>
              </a:lnSpc>
              <a:spcBef>
                <a:spcPts val="525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20" dirty="0">
                <a:latin typeface="Arial"/>
                <a:cs typeface="Arial"/>
              </a:rPr>
              <a:t>Visual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representation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of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requirements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system  </a:t>
            </a:r>
            <a:r>
              <a:rPr sz="1600" spc="-40" dirty="0">
                <a:latin typeface="Arial"/>
                <a:cs typeface="Arial"/>
              </a:rPr>
              <a:t>behavior.</a:t>
            </a:r>
            <a:endParaRPr sz="1600">
              <a:latin typeface="Arial"/>
              <a:cs typeface="Arial"/>
            </a:endParaRPr>
          </a:p>
          <a:p>
            <a:pPr marL="287020" marR="438150" indent="-274320">
              <a:lnSpc>
                <a:spcPts val="1730"/>
              </a:lnSpc>
              <a:spcBef>
                <a:spcPts val="490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10" dirty="0">
                <a:latin typeface="Arial"/>
                <a:cs typeface="Arial"/>
              </a:rPr>
              <a:t>Facilitate </a:t>
            </a:r>
            <a:r>
              <a:rPr sz="1600" spc="5" dirty="0">
                <a:latin typeface="Arial"/>
                <a:cs typeface="Arial"/>
              </a:rPr>
              <a:t>communication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24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understanding  between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stakeholders.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ts val="1825"/>
              </a:lnSpc>
              <a:spcBef>
                <a:spcPts val="285"/>
              </a:spcBef>
              <a:buChar char="•"/>
              <a:tabLst>
                <a:tab pos="286385" algn="l"/>
                <a:tab pos="287020" algn="l"/>
              </a:tabLst>
            </a:pPr>
            <a:r>
              <a:rPr sz="1600" spc="-5" dirty="0">
                <a:latin typeface="Arial"/>
                <a:cs typeface="Arial"/>
              </a:rPr>
              <a:t>Identify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system</a:t>
            </a:r>
            <a:r>
              <a:rPr sz="1600" spc="-1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boundaries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and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external</a:t>
            </a:r>
            <a:endParaRPr sz="1600">
              <a:latin typeface="Arial"/>
              <a:cs typeface="Arial"/>
            </a:endParaRPr>
          </a:p>
          <a:p>
            <a:pPr marL="287020">
              <a:lnSpc>
                <a:spcPts val="1825"/>
              </a:lnSpc>
            </a:pPr>
            <a:r>
              <a:rPr sz="1600" spc="-15" dirty="0">
                <a:latin typeface="Arial"/>
                <a:cs typeface="Arial"/>
              </a:rPr>
              <a:t>dependencies.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03992" y="0"/>
            <a:ext cx="1245107" cy="798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8479" y="1002030"/>
            <a:ext cx="5618480" cy="104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100"/>
              </a:lnSpc>
            </a:pPr>
            <a:r>
              <a:rPr sz="3800" spc="-10" dirty="0"/>
              <a:t>Creating </a:t>
            </a:r>
            <a:r>
              <a:rPr sz="3800" spc="75" dirty="0"/>
              <a:t>Use </a:t>
            </a:r>
            <a:r>
              <a:rPr sz="3800" spc="125" dirty="0"/>
              <a:t>Case  </a:t>
            </a:r>
            <a:r>
              <a:rPr sz="3800" spc="-15" dirty="0"/>
              <a:t>Diagrams</a:t>
            </a:r>
            <a:r>
              <a:rPr sz="3800" spc="-370" dirty="0"/>
              <a:t> </a:t>
            </a:r>
            <a:r>
              <a:rPr sz="3800" spc="-60" dirty="0"/>
              <a:t>for</a:t>
            </a:r>
            <a:r>
              <a:rPr sz="3800" spc="-370" dirty="0"/>
              <a:t> </a:t>
            </a:r>
            <a:r>
              <a:rPr sz="3800" spc="-20" dirty="0"/>
              <a:t>the</a:t>
            </a:r>
            <a:r>
              <a:rPr sz="3800" spc="-385" dirty="0"/>
              <a:t> </a:t>
            </a:r>
            <a:r>
              <a:rPr sz="3800" spc="-85" dirty="0"/>
              <a:t>Job</a:t>
            </a:r>
            <a:r>
              <a:rPr sz="3800" spc="-380" dirty="0"/>
              <a:t> </a:t>
            </a:r>
            <a:r>
              <a:rPr sz="3800" dirty="0"/>
              <a:t>Portal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5556503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80" y="149351"/>
                </a:lnTo>
                <a:lnTo>
                  <a:pt x="6126480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8159" y="1542288"/>
            <a:ext cx="4023360" cy="4456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32400">
              <a:lnSpc>
                <a:spcPct val="100000"/>
              </a:lnSpc>
            </a:pPr>
            <a:r>
              <a:rPr spc="-40" dirty="0"/>
              <a:t>Identify</a:t>
            </a:r>
            <a:r>
              <a:rPr spc="-180" dirty="0"/>
              <a:t> </a:t>
            </a:r>
            <a:r>
              <a:rPr spc="20" dirty="0"/>
              <a:t>actors</a:t>
            </a:r>
            <a:r>
              <a:rPr spc="-170" dirty="0"/>
              <a:t> </a:t>
            </a:r>
            <a:r>
              <a:rPr spc="5" dirty="0"/>
              <a:t>and</a:t>
            </a:r>
            <a:r>
              <a:rPr spc="-180" dirty="0"/>
              <a:t> </a:t>
            </a:r>
            <a:r>
              <a:rPr spc="-15" dirty="0"/>
              <a:t>their</a:t>
            </a:r>
            <a:r>
              <a:rPr spc="-195" dirty="0"/>
              <a:t> </a:t>
            </a:r>
            <a:r>
              <a:rPr spc="-10" dirty="0"/>
              <a:t>roles:</a:t>
            </a:r>
          </a:p>
          <a:p>
            <a:pPr marL="5506720" marR="626745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506085" algn="l"/>
                <a:tab pos="5506720" algn="l"/>
              </a:tabLst>
            </a:pPr>
            <a:r>
              <a:rPr spc="-40" dirty="0"/>
              <a:t>Job</a:t>
            </a:r>
            <a:r>
              <a:rPr spc="-165" dirty="0"/>
              <a:t> </a:t>
            </a:r>
            <a:r>
              <a:rPr spc="-10" dirty="0"/>
              <a:t>Seekers,</a:t>
            </a:r>
            <a:r>
              <a:rPr spc="-165" dirty="0"/>
              <a:t> </a:t>
            </a:r>
            <a:r>
              <a:rPr dirty="0"/>
              <a:t>Employers,</a:t>
            </a:r>
            <a:r>
              <a:rPr spc="-185" dirty="0"/>
              <a:t> </a:t>
            </a:r>
            <a:r>
              <a:rPr spc="-5" dirty="0"/>
              <a:t>Administrators,</a:t>
            </a:r>
            <a:r>
              <a:rPr spc="-200" dirty="0"/>
              <a:t> </a:t>
            </a:r>
            <a:r>
              <a:rPr spc="5" dirty="0"/>
              <a:t>and</a:t>
            </a:r>
            <a:r>
              <a:rPr spc="-165" dirty="0"/>
              <a:t> </a:t>
            </a:r>
            <a:r>
              <a:rPr spc="-15" dirty="0"/>
              <a:t>External  </a:t>
            </a:r>
            <a:r>
              <a:rPr dirty="0"/>
              <a:t>Systems.</a:t>
            </a:r>
          </a:p>
          <a:p>
            <a:pPr marL="5232400">
              <a:lnSpc>
                <a:spcPct val="100000"/>
              </a:lnSpc>
              <a:spcBef>
                <a:spcPts val="994"/>
              </a:spcBef>
            </a:pPr>
            <a:r>
              <a:rPr spc="-10" dirty="0"/>
              <a:t>Define</a:t>
            </a:r>
            <a:r>
              <a:rPr spc="-185" dirty="0"/>
              <a:t> </a:t>
            </a:r>
            <a:r>
              <a:rPr spc="15" dirty="0"/>
              <a:t>use</a:t>
            </a:r>
            <a:r>
              <a:rPr spc="-170" dirty="0"/>
              <a:t> </a:t>
            </a:r>
            <a:r>
              <a:rPr spc="45" dirty="0"/>
              <a:t>cases</a:t>
            </a:r>
            <a:r>
              <a:rPr spc="-170" dirty="0"/>
              <a:t> </a:t>
            </a:r>
            <a:r>
              <a:rPr spc="5" dirty="0"/>
              <a:t>and</a:t>
            </a:r>
            <a:r>
              <a:rPr spc="-180" dirty="0"/>
              <a:t> </a:t>
            </a:r>
            <a:r>
              <a:rPr spc="-10" dirty="0"/>
              <a:t>their</a:t>
            </a:r>
            <a:r>
              <a:rPr spc="-185" dirty="0"/>
              <a:t> </a:t>
            </a:r>
            <a:r>
              <a:rPr dirty="0"/>
              <a:t>relationships:</a:t>
            </a:r>
          </a:p>
          <a:p>
            <a:pPr marL="5506720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5506085" algn="l"/>
                <a:tab pos="5506720" algn="l"/>
              </a:tabLst>
            </a:pPr>
            <a:r>
              <a:rPr spc="35" dirty="0"/>
              <a:t>Use</a:t>
            </a:r>
            <a:r>
              <a:rPr spc="-175" dirty="0"/>
              <a:t> </a:t>
            </a:r>
            <a:r>
              <a:rPr spc="20" dirty="0"/>
              <a:t>cases:</a:t>
            </a:r>
            <a:r>
              <a:rPr spc="-160" dirty="0"/>
              <a:t> </a:t>
            </a:r>
            <a:r>
              <a:rPr spc="-5" dirty="0"/>
              <a:t>Searching</a:t>
            </a:r>
            <a:r>
              <a:rPr spc="-185" dirty="0"/>
              <a:t> </a:t>
            </a:r>
            <a:r>
              <a:rPr spc="-35" dirty="0"/>
              <a:t>for</a:t>
            </a:r>
            <a:r>
              <a:rPr spc="-160" dirty="0"/>
              <a:t> </a:t>
            </a:r>
            <a:r>
              <a:rPr spc="-10" dirty="0"/>
              <a:t>jobs,</a:t>
            </a:r>
            <a:r>
              <a:rPr spc="-175" dirty="0"/>
              <a:t> </a:t>
            </a:r>
            <a:r>
              <a:rPr spc="-10" dirty="0"/>
              <a:t>Applying</a:t>
            </a:r>
            <a:r>
              <a:rPr spc="-175" dirty="0"/>
              <a:t> </a:t>
            </a:r>
            <a:r>
              <a:rPr spc="-30" dirty="0"/>
              <a:t>for</a:t>
            </a:r>
            <a:r>
              <a:rPr spc="-170" dirty="0"/>
              <a:t> </a:t>
            </a:r>
            <a:r>
              <a:rPr spc="-10" dirty="0"/>
              <a:t>jobs,</a:t>
            </a:r>
            <a:r>
              <a:rPr spc="-175" dirty="0"/>
              <a:t> </a:t>
            </a:r>
            <a:r>
              <a:rPr spc="-15" dirty="0"/>
              <a:t>Posting</a:t>
            </a:r>
            <a:r>
              <a:rPr spc="-185" dirty="0"/>
              <a:t> </a:t>
            </a:r>
            <a:r>
              <a:rPr spc="-15" dirty="0"/>
              <a:t>job</a:t>
            </a:r>
          </a:p>
          <a:p>
            <a:pPr marL="5219700" marR="2060575" algn="ctr">
              <a:lnSpc>
                <a:spcPct val="100000"/>
              </a:lnSpc>
            </a:pPr>
            <a:r>
              <a:rPr spc="-5" dirty="0"/>
              <a:t>listings,</a:t>
            </a:r>
            <a:r>
              <a:rPr spc="-195" dirty="0"/>
              <a:t> </a:t>
            </a:r>
            <a:r>
              <a:rPr spc="-25" dirty="0"/>
              <a:t>Managing</a:t>
            </a:r>
            <a:r>
              <a:rPr spc="-195" dirty="0"/>
              <a:t> </a:t>
            </a:r>
            <a:r>
              <a:rPr spc="5" dirty="0"/>
              <a:t>user</a:t>
            </a:r>
            <a:r>
              <a:rPr spc="-165" dirty="0"/>
              <a:t> </a:t>
            </a:r>
            <a:r>
              <a:rPr dirty="0"/>
              <a:t>profiles,</a:t>
            </a:r>
            <a:r>
              <a:rPr spc="-165" dirty="0"/>
              <a:t> </a:t>
            </a:r>
            <a:r>
              <a:rPr dirty="0"/>
              <a:t>etc.</a:t>
            </a:r>
          </a:p>
          <a:p>
            <a:pPr marL="5506720" marR="1177290" indent="-2743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5506085" algn="l"/>
                <a:tab pos="5506720" algn="l"/>
              </a:tabLst>
            </a:pPr>
            <a:r>
              <a:rPr spc="5" dirty="0"/>
              <a:t>Relationships:</a:t>
            </a:r>
            <a:r>
              <a:rPr spc="-204" dirty="0"/>
              <a:t> </a:t>
            </a:r>
            <a:r>
              <a:rPr spc="20" dirty="0"/>
              <a:t>Association,</a:t>
            </a:r>
            <a:r>
              <a:rPr spc="-204" dirty="0"/>
              <a:t> </a:t>
            </a:r>
            <a:r>
              <a:rPr spc="-15" dirty="0"/>
              <a:t>Include,</a:t>
            </a:r>
            <a:r>
              <a:rPr spc="-175" dirty="0"/>
              <a:t> </a:t>
            </a:r>
            <a:r>
              <a:rPr spc="5" dirty="0"/>
              <a:t>and</a:t>
            </a:r>
            <a:r>
              <a:rPr spc="-185" dirty="0"/>
              <a:t> </a:t>
            </a:r>
            <a:r>
              <a:rPr spc="-20" dirty="0"/>
              <a:t>Extend  </a:t>
            </a:r>
            <a:r>
              <a:rPr spc="10" dirty="0"/>
              <a:t>relationships</a:t>
            </a:r>
            <a:r>
              <a:rPr spc="-180" dirty="0"/>
              <a:t> </a:t>
            </a:r>
            <a:r>
              <a:rPr spc="-5" dirty="0"/>
              <a:t>between</a:t>
            </a:r>
            <a:r>
              <a:rPr spc="-165" dirty="0"/>
              <a:t> </a:t>
            </a:r>
            <a:r>
              <a:rPr spc="20" dirty="0"/>
              <a:t>actors</a:t>
            </a:r>
            <a:r>
              <a:rPr spc="-155" dirty="0"/>
              <a:t> </a:t>
            </a:r>
            <a:r>
              <a:rPr spc="5" dirty="0"/>
              <a:t>and</a:t>
            </a:r>
            <a:r>
              <a:rPr spc="-170" dirty="0"/>
              <a:t> </a:t>
            </a:r>
            <a:r>
              <a:rPr spc="20" dirty="0"/>
              <a:t>use</a:t>
            </a:r>
            <a:r>
              <a:rPr spc="-160" dirty="0"/>
              <a:t> </a:t>
            </a:r>
            <a:r>
              <a:rPr spc="30" dirty="0"/>
              <a:t>cases.</a:t>
            </a:r>
          </a:p>
          <a:p>
            <a:pPr marL="5232400">
              <a:lnSpc>
                <a:spcPct val="100000"/>
              </a:lnSpc>
              <a:spcBef>
                <a:spcPts val="1005"/>
              </a:spcBef>
            </a:pPr>
            <a:r>
              <a:rPr spc="-10" dirty="0"/>
              <a:t>Include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60" dirty="0"/>
              <a:t> </a:t>
            </a:r>
            <a:r>
              <a:rPr dirty="0"/>
              <a:t>boundaries</a:t>
            </a:r>
            <a:r>
              <a:rPr spc="-150" dirty="0"/>
              <a:t> </a:t>
            </a:r>
            <a:r>
              <a:rPr spc="5" dirty="0"/>
              <a:t>and</a:t>
            </a:r>
            <a:r>
              <a:rPr spc="-150" dirty="0"/>
              <a:t> </a:t>
            </a:r>
            <a:r>
              <a:rPr spc="-20" dirty="0"/>
              <a:t>external</a:t>
            </a:r>
            <a:r>
              <a:rPr spc="-160" dirty="0"/>
              <a:t> </a:t>
            </a:r>
            <a:r>
              <a:rPr spc="-10" dirty="0"/>
              <a:t>systems:</a:t>
            </a:r>
          </a:p>
          <a:p>
            <a:pPr marL="5506720" marR="285115" indent="-2743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5506085" algn="l"/>
                <a:tab pos="5506720" algn="l"/>
              </a:tabLst>
            </a:pPr>
            <a:r>
              <a:rPr spc="10" dirty="0"/>
              <a:t>Specify</a:t>
            </a:r>
            <a:r>
              <a:rPr spc="-170" dirty="0"/>
              <a:t> </a:t>
            </a:r>
            <a:r>
              <a:rPr dirty="0"/>
              <a:t>system</a:t>
            </a:r>
            <a:r>
              <a:rPr spc="-155" dirty="0"/>
              <a:t> </a:t>
            </a:r>
            <a:r>
              <a:rPr spc="5" dirty="0"/>
              <a:t>boundaries</a:t>
            </a:r>
            <a:r>
              <a:rPr spc="-155" dirty="0"/>
              <a:t> </a:t>
            </a:r>
            <a:r>
              <a:rPr spc="-10" dirty="0"/>
              <a:t>to</a:t>
            </a:r>
            <a:r>
              <a:rPr spc="-155" dirty="0"/>
              <a:t> </a:t>
            </a:r>
            <a:r>
              <a:rPr spc="-5" dirty="0"/>
              <a:t>define</a:t>
            </a:r>
            <a:r>
              <a:rPr spc="-175" dirty="0"/>
              <a:t> </a:t>
            </a:r>
            <a:r>
              <a:rPr spc="-10" dirty="0"/>
              <a:t>the</a:t>
            </a:r>
            <a:r>
              <a:rPr spc="-165" dirty="0"/>
              <a:t> </a:t>
            </a:r>
            <a:r>
              <a:rPr spc="40" dirty="0"/>
              <a:t>scope</a:t>
            </a:r>
            <a:r>
              <a:rPr spc="-155" dirty="0"/>
              <a:t> </a:t>
            </a:r>
            <a:r>
              <a:rPr spc="-10" dirty="0"/>
              <a:t>of</a:t>
            </a:r>
            <a:r>
              <a:rPr spc="-155" dirty="0"/>
              <a:t> </a:t>
            </a:r>
            <a:r>
              <a:rPr spc="-10" dirty="0"/>
              <a:t>the</a:t>
            </a:r>
            <a:r>
              <a:rPr spc="-165" dirty="0"/>
              <a:t> </a:t>
            </a:r>
            <a:r>
              <a:rPr spc="-15" dirty="0"/>
              <a:t>job  </a:t>
            </a:r>
            <a:r>
              <a:rPr dirty="0"/>
              <a:t>portal.</a:t>
            </a:r>
          </a:p>
          <a:p>
            <a:pPr marL="5506720" marR="5080" indent="-27432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5506085" algn="l"/>
                <a:tab pos="5506720" algn="l"/>
              </a:tabLst>
            </a:pPr>
            <a:r>
              <a:rPr spc="-40" dirty="0"/>
              <a:t>Identify</a:t>
            </a:r>
            <a:r>
              <a:rPr spc="-170" dirty="0"/>
              <a:t> </a:t>
            </a:r>
            <a:r>
              <a:rPr spc="-30" dirty="0"/>
              <a:t>any</a:t>
            </a:r>
            <a:r>
              <a:rPr spc="-170" dirty="0"/>
              <a:t> </a:t>
            </a:r>
            <a:r>
              <a:rPr spc="-20" dirty="0"/>
              <a:t>external</a:t>
            </a:r>
            <a:r>
              <a:rPr spc="-170" dirty="0"/>
              <a:t> </a:t>
            </a:r>
            <a:r>
              <a:rPr spc="10" dirty="0"/>
              <a:t>systems</a:t>
            </a:r>
            <a:r>
              <a:rPr spc="-155" dirty="0"/>
              <a:t> </a:t>
            </a:r>
            <a:r>
              <a:rPr spc="-10" dirty="0"/>
              <a:t>interacting</a:t>
            </a:r>
            <a:r>
              <a:rPr spc="-180" dirty="0"/>
              <a:t> </a:t>
            </a:r>
            <a:r>
              <a:rPr spc="-15" dirty="0"/>
              <a:t>with</a:t>
            </a:r>
            <a:r>
              <a:rPr spc="-170" dirty="0"/>
              <a:t> </a:t>
            </a:r>
            <a:r>
              <a:rPr spc="-10" dirty="0"/>
              <a:t>the</a:t>
            </a:r>
            <a:r>
              <a:rPr spc="-180" dirty="0"/>
              <a:t> </a:t>
            </a:r>
            <a:r>
              <a:rPr spc="-15" dirty="0"/>
              <a:t>job</a:t>
            </a:r>
            <a:r>
              <a:rPr spc="-160" dirty="0"/>
              <a:t> </a:t>
            </a:r>
            <a:r>
              <a:rPr dirty="0"/>
              <a:t>portal,  </a:t>
            </a:r>
            <a:r>
              <a:rPr spc="40" dirty="0"/>
              <a:t>such</a:t>
            </a:r>
            <a:r>
              <a:rPr spc="-165" dirty="0"/>
              <a:t> </a:t>
            </a:r>
            <a:r>
              <a:rPr spc="40" dirty="0"/>
              <a:t>as</a:t>
            </a:r>
            <a:r>
              <a:rPr spc="-150" dirty="0"/>
              <a:t> </a:t>
            </a:r>
            <a:r>
              <a:rPr spc="-10" dirty="0"/>
              <a:t>payment</a:t>
            </a:r>
            <a:r>
              <a:rPr spc="-165" dirty="0"/>
              <a:t> </a:t>
            </a:r>
            <a:r>
              <a:rPr spc="-30" dirty="0"/>
              <a:t>gateways</a:t>
            </a:r>
            <a:r>
              <a:rPr spc="-170" dirty="0"/>
              <a:t> </a:t>
            </a:r>
            <a:r>
              <a:rPr spc="-20" dirty="0"/>
              <a:t>or</a:t>
            </a:r>
            <a:r>
              <a:rPr spc="-155" dirty="0"/>
              <a:t> </a:t>
            </a:r>
            <a:r>
              <a:rPr spc="5" dirty="0"/>
              <a:t>authentication</a:t>
            </a:r>
            <a:r>
              <a:rPr spc="-190" dirty="0"/>
              <a:t> </a:t>
            </a:r>
            <a:r>
              <a:rPr spc="-15" dirty="0"/>
              <a:t>providers.</a:t>
            </a:r>
          </a:p>
        </p:txBody>
      </p:sp>
      <p:sp>
        <p:nvSpPr>
          <p:cNvPr id="6" name="object 6"/>
          <p:cNvSpPr/>
          <p:nvPr/>
        </p:nvSpPr>
        <p:spPr>
          <a:xfrm>
            <a:off x="518159" y="6233159"/>
            <a:ext cx="4023360" cy="0"/>
          </a:xfrm>
          <a:custGeom>
            <a:avLst/>
            <a:gdLst/>
            <a:ahLst/>
            <a:cxnLst/>
            <a:rect l="l" t="t" r="r" b="b"/>
            <a:pathLst>
              <a:path w="4023360">
                <a:moveTo>
                  <a:pt x="0" y="0"/>
                </a:moveTo>
                <a:lnTo>
                  <a:pt x="402336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2280" y="0"/>
            <a:ext cx="1245107" cy="740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D7D4DE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595" y="981202"/>
            <a:ext cx="4810760" cy="879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0" dirty="0"/>
              <a:t>UI/UX</a:t>
            </a:r>
            <a:r>
              <a:rPr spc="-610" dirty="0"/>
              <a:t> </a:t>
            </a:r>
            <a:r>
              <a:rPr spc="-50" dirty="0"/>
              <a:t>Designing</a:t>
            </a:r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8159" y="3102864"/>
            <a:ext cx="6143244" cy="3125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26120" y="1007745"/>
            <a:ext cx="3027045" cy="60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spc="-50" dirty="0">
                <a:latin typeface="Tahoma"/>
                <a:cs typeface="Tahoma"/>
              </a:rPr>
              <a:t>Why</a:t>
            </a:r>
            <a:r>
              <a:rPr sz="1900" spc="-180" dirty="0">
                <a:latin typeface="Tahoma"/>
                <a:cs typeface="Tahoma"/>
              </a:rPr>
              <a:t> </a:t>
            </a:r>
            <a:r>
              <a:rPr sz="1900" spc="-55" dirty="0">
                <a:latin typeface="Tahoma"/>
                <a:cs typeface="Tahoma"/>
              </a:rPr>
              <a:t>UI/UX</a:t>
            </a:r>
            <a:r>
              <a:rPr sz="1900" spc="-19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Designing</a:t>
            </a:r>
            <a:r>
              <a:rPr sz="1900" spc="-19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21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Agile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900" spc="-5" dirty="0">
                <a:latin typeface="Tahoma"/>
                <a:cs typeface="Tahoma"/>
              </a:rPr>
              <a:t>Requirements</a:t>
            </a:r>
            <a:r>
              <a:rPr sz="1900" spc="-235" dirty="0">
                <a:latin typeface="Tahoma"/>
                <a:cs typeface="Tahoma"/>
              </a:rPr>
              <a:t> </a:t>
            </a:r>
            <a:r>
              <a:rPr sz="1900" spc="-40" dirty="0">
                <a:latin typeface="Tahoma"/>
                <a:cs typeface="Tahoma"/>
              </a:rPr>
              <a:t>Engineering: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26120" y="1651253"/>
            <a:ext cx="3602990" cy="439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99695" indent="-274320">
              <a:lnSpc>
                <a:spcPct val="100000"/>
              </a:lnSpc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900" spc="-55" dirty="0">
                <a:latin typeface="Tahoma"/>
                <a:cs typeface="Tahoma"/>
              </a:rPr>
              <a:t>UI/UX </a:t>
            </a:r>
            <a:r>
              <a:rPr sz="1900" spc="-20" dirty="0">
                <a:latin typeface="Tahoma"/>
                <a:cs typeface="Tahoma"/>
              </a:rPr>
              <a:t>Designing </a:t>
            </a:r>
            <a:r>
              <a:rPr sz="1900" spc="20" dirty="0">
                <a:latin typeface="Tahoma"/>
                <a:cs typeface="Tahoma"/>
              </a:rPr>
              <a:t>focuses </a:t>
            </a:r>
            <a:r>
              <a:rPr sz="1900" spc="-5" dirty="0">
                <a:latin typeface="Tahoma"/>
                <a:cs typeface="Tahoma"/>
              </a:rPr>
              <a:t>on  </a:t>
            </a:r>
            <a:r>
              <a:rPr sz="1900" spc="-15" dirty="0">
                <a:latin typeface="Tahoma"/>
                <a:cs typeface="Tahoma"/>
              </a:rPr>
              <a:t>creating </a:t>
            </a:r>
            <a:r>
              <a:rPr sz="1900" spc="-25" dirty="0">
                <a:latin typeface="Tahoma"/>
                <a:cs typeface="Tahoma"/>
              </a:rPr>
              <a:t>intuitive,</a:t>
            </a:r>
            <a:r>
              <a:rPr sz="1900" spc="-38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user-friendly,  </a:t>
            </a:r>
            <a:r>
              <a:rPr sz="1900" dirty="0">
                <a:latin typeface="Tahoma"/>
                <a:cs typeface="Tahoma"/>
              </a:rPr>
              <a:t>and visually </a:t>
            </a:r>
            <a:r>
              <a:rPr sz="1900" spc="-10" dirty="0">
                <a:latin typeface="Tahoma"/>
                <a:cs typeface="Tahoma"/>
              </a:rPr>
              <a:t>appealing  </a:t>
            </a:r>
            <a:r>
              <a:rPr sz="1900" spc="-5" dirty="0">
                <a:latin typeface="Tahoma"/>
                <a:cs typeface="Tahoma"/>
              </a:rPr>
              <a:t>interfaces.</a:t>
            </a:r>
            <a:endParaRPr sz="1900">
              <a:latin typeface="Tahoma"/>
              <a:cs typeface="Tahoma"/>
            </a:endParaRPr>
          </a:p>
          <a:p>
            <a:pPr marL="287020" marR="238760" indent="-2743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900" spc="15" dirty="0">
                <a:latin typeface="Tahoma"/>
                <a:cs typeface="Tahoma"/>
              </a:rPr>
              <a:t>Enhances </a:t>
            </a:r>
            <a:r>
              <a:rPr sz="1900" dirty="0">
                <a:latin typeface="Tahoma"/>
                <a:cs typeface="Tahoma"/>
              </a:rPr>
              <a:t>user </a:t>
            </a:r>
            <a:r>
              <a:rPr sz="1900" spc="10" dirty="0">
                <a:latin typeface="Tahoma"/>
                <a:cs typeface="Tahoma"/>
              </a:rPr>
              <a:t>satisfaction,  </a:t>
            </a:r>
            <a:r>
              <a:rPr sz="1900" spc="-35" dirty="0">
                <a:latin typeface="Tahoma"/>
                <a:cs typeface="Tahoma"/>
              </a:rPr>
              <a:t>engagement,</a:t>
            </a:r>
            <a:r>
              <a:rPr sz="1900" spc="-17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19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overall</a:t>
            </a:r>
            <a:r>
              <a:rPr sz="1900" spc="-18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user  </a:t>
            </a:r>
            <a:r>
              <a:rPr sz="1900" spc="-20" dirty="0">
                <a:latin typeface="Tahoma"/>
                <a:cs typeface="Tahoma"/>
              </a:rPr>
              <a:t>experience.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900" spc="5" dirty="0">
                <a:latin typeface="Tahoma"/>
                <a:cs typeface="Tahoma"/>
              </a:rPr>
              <a:t>Collaborative </a:t>
            </a:r>
            <a:r>
              <a:rPr sz="1900" spc="-10" dirty="0">
                <a:latin typeface="Tahoma"/>
                <a:cs typeface="Tahoma"/>
              </a:rPr>
              <a:t>Design</a:t>
            </a:r>
            <a:r>
              <a:rPr sz="1900" spc="-3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Process:</a:t>
            </a:r>
            <a:endParaRPr sz="1900">
              <a:latin typeface="Tahoma"/>
              <a:cs typeface="Tahoma"/>
            </a:endParaRPr>
          </a:p>
          <a:p>
            <a:pPr marL="287020" marR="5080" indent="-2743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900" spc="-35" dirty="0">
                <a:latin typeface="Tahoma"/>
                <a:cs typeface="Tahoma"/>
              </a:rPr>
              <a:t>Involves </a:t>
            </a:r>
            <a:r>
              <a:rPr sz="1900" spc="45" dirty="0">
                <a:latin typeface="Tahoma"/>
                <a:cs typeface="Tahoma"/>
              </a:rPr>
              <a:t>close </a:t>
            </a:r>
            <a:r>
              <a:rPr sz="1900" spc="10" dirty="0">
                <a:latin typeface="Tahoma"/>
                <a:cs typeface="Tahoma"/>
              </a:rPr>
              <a:t>collaboration  </a:t>
            </a:r>
            <a:r>
              <a:rPr sz="1900" spc="-10" dirty="0">
                <a:latin typeface="Tahoma"/>
                <a:cs typeface="Tahoma"/>
              </a:rPr>
              <a:t>between </a:t>
            </a:r>
            <a:r>
              <a:rPr sz="1900" spc="-15" dirty="0">
                <a:latin typeface="Tahoma"/>
                <a:cs typeface="Tahoma"/>
              </a:rPr>
              <a:t>designers,</a:t>
            </a:r>
            <a:r>
              <a:rPr sz="1900" spc="-370" dirty="0">
                <a:latin typeface="Tahoma"/>
                <a:cs typeface="Tahoma"/>
              </a:rPr>
              <a:t> </a:t>
            </a:r>
            <a:r>
              <a:rPr sz="1900" spc="-5" dirty="0">
                <a:latin typeface="Tahoma"/>
                <a:cs typeface="Tahoma"/>
              </a:rPr>
              <a:t>developers, 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225" dirty="0">
                <a:latin typeface="Tahoma"/>
                <a:cs typeface="Tahoma"/>
              </a:rPr>
              <a:t> </a:t>
            </a:r>
            <a:r>
              <a:rPr sz="1900" spc="-5" dirty="0">
                <a:latin typeface="Tahoma"/>
                <a:cs typeface="Tahoma"/>
              </a:rPr>
              <a:t>stakeholders.</a:t>
            </a:r>
            <a:endParaRPr sz="1900">
              <a:latin typeface="Tahoma"/>
              <a:cs typeface="Tahoma"/>
            </a:endParaRPr>
          </a:p>
          <a:p>
            <a:pPr marL="287020" marR="34290" indent="-27432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900" spc="-55" dirty="0">
                <a:latin typeface="Tahoma"/>
                <a:cs typeface="Tahoma"/>
              </a:rPr>
              <a:t>Iterative</a:t>
            </a:r>
            <a:r>
              <a:rPr sz="1900" spc="-18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design</a:t>
            </a:r>
            <a:r>
              <a:rPr sz="1900" spc="-185" dirty="0">
                <a:latin typeface="Tahoma"/>
                <a:cs typeface="Tahoma"/>
              </a:rPr>
              <a:t> </a:t>
            </a:r>
            <a:r>
              <a:rPr sz="1900" spc="40" dirty="0">
                <a:latin typeface="Tahoma"/>
                <a:cs typeface="Tahoma"/>
              </a:rPr>
              <a:t>cycles</a:t>
            </a:r>
            <a:r>
              <a:rPr sz="1900" spc="-18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to</a:t>
            </a:r>
            <a:r>
              <a:rPr sz="1900" spc="-185" dirty="0">
                <a:latin typeface="Tahoma"/>
                <a:cs typeface="Tahoma"/>
              </a:rPr>
              <a:t> </a:t>
            </a:r>
            <a:r>
              <a:rPr sz="1900" spc="-40" dirty="0">
                <a:latin typeface="Tahoma"/>
                <a:cs typeface="Tahoma"/>
              </a:rPr>
              <a:t>gather  </a:t>
            </a:r>
            <a:r>
              <a:rPr sz="1900" spc="5" dirty="0">
                <a:latin typeface="Tahoma"/>
                <a:cs typeface="Tahoma"/>
              </a:rPr>
              <a:t>feedback </a:t>
            </a:r>
            <a:r>
              <a:rPr sz="1900" dirty="0">
                <a:latin typeface="Tahoma"/>
                <a:cs typeface="Tahoma"/>
              </a:rPr>
              <a:t>and </a:t>
            </a:r>
            <a:r>
              <a:rPr sz="1900" spc="-20" dirty="0">
                <a:latin typeface="Tahoma"/>
                <a:cs typeface="Tahoma"/>
              </a:rPr>
              <a:t>refine </a:t>
            </a:r>
            <a:r>
              <a:rPr sz="1900" spc="-15" dirty="0">
                <a:latin typeface="Tahoma"/>
                <a:cs typeface="Tahoma"/>
              </a:rPr>
              <a:t>the  interface.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622280" y="0"/>
            <a:ext cx="1245107" cy="740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D7D4DE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595" y="998474"/>
            <a:ext cx="5624830" cy="176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540"/>
              </a:lnSpc>
            </a:pPr>
            <a:r>
              <a:rPr sz="4200" spc="-130" dirty="0"/>
              <a:t>Integrating </a:t>
            </a:r>
            <a:r>
              <a:rPr sz="4200" spc="-120" dirty="0"/>
              <a:t>UI/UX</a:t>
            </a:r>
            <a:r>
              <a:rPr sz="4200" spc="-685" dirty="0"/>
              <a:t> </a:t>
            </a:r>
            <a:r>
              <a:rPr sz="4200" spc="-20" dirty="0"/>
              <a:t>Design  </a:t>
            </a:r>
            <a:r>
              <a:rPr sz="4200" spc="5" dirty="0"/>
              <a:t>in </a:t>
            </a:r>
            <a:r>
              <a:rPr sz="4200" spc="-15" dirty="0"/>
              <a:t>Agile </a:t>
            </a:r>
            <a:r>
              <a:rPr sz="4200" dirty="0"/>
              <a:t>Requirements  </a:t>
            </a:r>
            <a:r>
              <a:rPr sz="4200" spc="-65" dirty="0"/>
              <a:t>Engineering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28204" y="633983"/>
            <a:ext cx="3939540" cy="0"/>
          </a:xfrm>
          <a:custGeom>
            <a:avLst/>
            <a:gdLst/>
            <a:ahLst/>
            <a:cxnLst/>
            <a:rect l="l" t="t" r="r" b="b"/>
            <a:pathLst>
              <a:path w="3939540">
                <a:moveTo>
                  <a:pt x="0" y="0"/>
                </a:moveTo>
                <a:lnTo>
                  <a:pt x="393954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8159" y="3102864"/>
            <a:ext cx="6143117" cy="31256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2280" y="0"/>
            <a:ext cx="1245107" cy="740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14031" y="969263"/>
            <a:ext cx="4663439" cy="5516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595" y="997457"/>
            <a:ext cx="5975985" cy="130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970"/>
              </a:lnSpc>
            </a:pPr>
            <a:r>
              <a:rPr sz="4600" spc="-20" dirty="0"/>
              <a:t>Software</a:t>
            </a:r>
            <a:r>
              <a:rPr sz="4600" spc="-434" dirty="0"/>
              <a:t> </a:t>
            </a:r>
            <a:r>
              <a:rPr sz="4600" spc="-5" dirty="0"/>
              <a:t>Requirements  </a:t>
            </a:r>
            <a:r>
              <a:rPr sz="4600" spc="50" dirty="0"/>
              <a:t>Specification</a:t>
            </a:r>
            <a:r>
              <a:rPr sz="4600" spc="-495" dirty="0"/>
              <a:t> </a:t>
            </a:r>
            <a:r>
              <a:rPr sz="4600" spc="-165" dirty="0"/>
              <a:t>(SRS)</a:t>
            </a:r>
            <a:endParaRPr sz="4600"/>
          </a:p>
        </p:txBody>
      </p:sp>
      <p:sp>
        <p:nvSpPr>
          <p:cNvPr id="3" name="object 3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6595" y="3202685"/>
            <a:ext cx="5684520" cy="284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5" dirty="0">
                <a:latin typeface="Arial"/>
                <a:cs typeface="Arial"/>
              </a:rPr>
              <a:t>What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an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Agile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190" dirty="0">
                <a:latin typeface="Arial"/>
                <a:cs typeface="Arial"/>
              </a:rPr>
              <a:t>SRS?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55" dirty="0">
                <a:latin typeface="Arial"/>
                <a:cs typeface="Arial"/>
              </a:rPr>
              <a:t>A </a:t>
            </a:r>
            <a:r>
              <a:rPr sz="2000" spc="-20" dirty="0">
                <a:latin typeface="Arial"/>
                <a:cs typeface="Arial"/>
              </a:rPr>
              <a:t>living </a:t>
            </a:r>
            <a:r>
              <a:rPr sz="2000" spc="15" dirty="0">
                <a:latin typeface="Arial"/>
                <a:cs typeface="Arial"/>
              </a:rPr>
              <a:t>document </a:t>
            </a:r>
            <a:r>
              <a:rPr sz="2000" spc="25" dirty="0">
                <a:latin typeface="Arial"/>
                <a:cs typeface="Arial"/>
              </a:rPr>
              <a:t>that </a:t>
            </a:r>
            <a:r>
              <a:rPr sz="2000" spc="-5" dirty="0">
                <a:latin typeface="Arial"/>
                <a:cs typeface="Arial"/>
              </a:rPr>
              <a:t>describes </a:t>
            </a:r>
            <a:r>
              <a:rPr sz="2000" spc="10" dirty="0">
                <a:latin typeface="Arial"/>
                <a:cs typeface="Arial"/>
              </a:rPr>
              <a:t>the </a:t>
            </a:r>
            <a:r>
              <a:rPr sz="2000" spc="25" dirty="0">
                <a:latin typeface="Arial"/>
                <a:cs typeface="Arial"/>
              </a:rPr>
              <a:t>functional  </a:t>
            </a:r>
            <a:r>
              <a:rPr sz="2000" spc="-15" dirty="0">
                <a:latin typeface="Arial"/>
                <a:cs typeface="Arial"/>
              </a:rPr>
              <a:t>and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non-functional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requirements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of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software  </a:t>
            </a:r>
            <a:r>
              <a:rPr sz="2000" spc="-25" dirty="0">
                <a:latin typeface="Arial"/>
                <a:cs typeface="Arial"/>
              </a:rPr>
              <a:t>system.</a:t>
            </a:r>
            <a:endParaRPr sz="2000">
              <a:latin typeface="Arial"/>
              <a:cs typeface="Arial"/>
            </a:endParaRPr>
          </a:p>
          <a:p>
            <a:pPr marL="355600" marR="140335" indent="-342900">
              <a:lnSpc>
                <a:spcPct val="100000"/>
              </a:lnSpc>
              <a:spcBef>
                <a:spcPts val="10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70" dirty="0">
                <a:latin typeface="Arial"/>
                <a:cs typeface="Arial"/>
              </a:rPr>
              <a:t>Serves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as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blueprint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the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development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team  </a:t>
            </a:r>
            <a:r>
              <a:rPr sz="2000" spc="-15" dirty="0">
                <a:latin typeface="Arial"/>
                <a:cs typeface="Arial"/>
              </a:rPr>
              <a:t>and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reference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stakeholders.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Evolves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and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iterates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throughout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Agile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development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process.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68768" y="1975104"/>
            <a:ext cx="4023360" cy="402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68768" y="6233159"/>
            <a:ext cx="4023360" cy="0"/>
          </a:xfrm>
          <a:custGeom>
            <a:avLst/>
            <a:gdLst/>
            <a:ahLst/>
            <a:cxnLst/>
            <a:rect l="l" t="t" r="r" b="b"/>
            <a:pathLst>
              <a:path w="4023359">
                <a:moveTo>
                  <a:pt x="0" y="0"/>
                </a:moveTo>
                <a:lnTo>
                  <a:pt x="4023360" y="0"/>
                </a:lnTo>
              </a:path>
            </a:pathLst>
          </a:custGeom>
          <a:ln w="457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2092" y="0"/>
            <a:ext cx="1245107" cy="934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595" y="980185"/>
            <a:ext cx="3785870" cy="1702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5400" b="1" spc="-80" dirty="0">
                <a:latin typeface="Arial"/>
                <a:cs typeface="Arial"/>
              </a:rPr>
              <a:t>Structure</a:t>
            </a:r>
            <a:r>
              <a:rPr sz="5400" b="1" spc="-235" dirty="0">
                <a:latin typeface="Arial"/>
                <a:cs typeface="Arial"/>
              </a:rPr>
              <a:t> </a:t>
            </a:r>
            <a:r>
              <a:rPr sz="5400" b="1" spc="-85" dirty="0">
                <a:latin typeface="Arial"/>
                <a:cs typeface="Arial"/>
              </a:rPr>
              <a:t>of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5400" b="1" spc="-204" dirty="0">
                <a:latin typeface="Arial"/>
                <a:cs typeface="Arial"/>
              </a:rPr>
              <a:t>Agile</a:t>
            </a:r>
            <a:r>
              <a:rPr sz="5400" b="1" spc="-215" dirty="0">
                <a:latin typeface="Arial"/>
                <a:cs typeface="Arial"/>
              </a:rPr>
              <a:t> </a:t>
            </a:r>
            <a:r>
              <a:rPr sz="5400" b="1" spc="-415" dirty="0">
                <a:latin typeface="Arial"/>
                <a:cs typeface="Arial"/>
              </a:rPr>
              <a:t>SRS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7196" y="3015995"/>
            <a:ext cx="3372612" cy="3374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48020" y="221741"/>
            <a:ext cx="1091565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25" dirty="0">
                <a:latin typeface="Arial"/>
                <a:cs typeface="Arial"/>
              </a:rPr>
              <a:t>I</a:t>
            </a:r>
            <a:r>
              <a:rPr sz="1400" b="1" spc="-10" dirty="0">
                <a:latin typeface="Arial"/>
                <a:cs typeface="Arial"/>
              </a:rPr>
              <a:t>nt</a:t>
            </a:r>
            <a:r>
              <a:rPr sz="1400" b="1" spc="-30" dirty="0">
                <a:latin typeface="Arial"/>
                <a:cs typeface="Arial"/>
              </a:rPr>
              <a:t>r</a:t>
            </a:r>
            <a:r>
              <a:rPr sz="1400" b="1" spc="-35" dirty="0">
                <a:latin typeface="Arial"/>
                <a:cs typeface="Arial"/>
              </a:rPr>
              <a:t>odu</a:t>
            </a:r>
            <a:r>
              <a:rPr sz="1400" b="1" spc="-40" dirty="0">
                <a:latin typeface="Arial"/>
                <a:cs typeface="Arial"/>
              </a:rPr>
              <a:t>c</a:t>
            </a:r>
            <a:r>
              <a:rPr sz="1400" b="1" spc="5" dirty="0">
                <a:latin typeface="Arial"/>
                <a:cs typeface="Arial"/>
              </a:rPr>
              <a:t>t</a:t>
            </a:r>
            <a:r>
              <a:rPr sz="1400" b="1" spc="15" dirty="0">
                <a:latin typeface="Arial"/>
                <a:cs typeface="Arial"/>
              </a:rPr>
              <a:t>i</a:t>
            </a:r>
            <a:r>
              <a:rPr sz="1400" b="1" spc="-45" dirty="0">
                <a:latin typeface="Arial"/>
                <a:cs typeface="Arial"/>
              </a:rPr>
              <a:t>on: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8020" y="518921"/>
            <a:ext cx="4066540" cy="53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5" dirty="0">
                <a:latin typeface="Tahoma"/>
                <a:cs typeface="Tahoma"/>
              </a:rPr>
              <a:t>Purpose,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scope,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objectives</a:t>
            </a:r>
            <a:r>
              <a:rPr sz="1400" spc="-15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Agile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SRS.</a:t>
            </a:r>
            <a:endParaRPr sz="14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15" dirty="0">
                <a:latin typeface="Tahoma"/>
                <a:cs typeface="Tahoma"/>
              </a:rPr>
              <a:t>Overview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the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job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portal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its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intended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users.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8020" y="1179195"/>
            <a:ext cx="1794510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40" dirty="0">
                <a:latin typeface="Arial"/>
                <a:cs typeface="Arial"/>
              </a:rPr>
              <a:t>System</a:t>
            </a:r>
            <a:r>
              <a:rPr sz="1400" b="1" spc="-150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Users/Actors: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8020" y="1456562"/>
            <a:ext cx="5733415" cy="792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5080" indent="-274320">
              <a:lnSpc>
                <a:spcPct val="110000"/>
              </a:lnSpc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30" dirty="0">
                <a:latin typeface="Tahoma"/>
                <a:cs typeface="Tahoma"/>
              </a:rPr>
              <a:t>Identifying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defining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the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different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roles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or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actors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interacting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with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the  </a:t>
            </a:r>
            <a:r>
              <a:rPr sz="1400" spc="-5" dirty="0">
                <a:latin typeface="Tahoma"/>
                <a:cs typeface="Tahoma"/>
              </a:rPr>
              <a:t>system.</a:t>
            </a:r>
            <a:endParaRPr sz="14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5" dirty="0">
                <a:latin typeface="Tahoma"/>
                <a:cs typeface="Tahoma"/>
              </a:rPr>
              <a:t>Examples: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Job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Seekers,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Employers,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Administrators.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8020" y="2372486"/>
            <a:ext cx="1668780" cy="237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35" dirty="0">
                <a:latin typeface="Arial"/>
                <a:cs typeface="Arial"/>
              </a:rPr>
              <a:t>Use </a:t>
            </a:r>
            <a:r>
              <a:rPr sz="1400" b="1" spc="-20" dirty="0">
                <a:latin typeface="Arial"/>
                <a:cs typeface="Arial"/>
              </a:rPr>
              <a:t>Case</a:t>
            </a:r>
            <a:r>
              <a:rPr sz="1400" b="1" spc="-175" dirty="0">
                <a:latin typeface="Arial"/>
                <a:cs typeface="Arial"/>
              </a:rPr>
              <a:t> </a:t>
            </a:r>
            <a:r>
              <a:rPr sz="1400" b="1" spc="-40" dirty="0">
                <a:latin typeface="Arial"/>
                <a:cs typeface="Arial"/>
              </a:rPr>
              <a:t>Diagrams: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8020" y="2671445"/>
            <a:ext cx="6164580" cy="413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10" dirty="0">
                <a:latin typeface="Tahoma"/>
                <a:cs typeface="Tahoma"/>
              </a:rPr>
              <a:t>Visual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representation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system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behavior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user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interactions.</a:t>
            </a:r>
            <a:endParaRPr sz="14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10" dirty="0">
                <a:latin typeface="Tahoma"/>
                <a:cs typeface="Tahoma"/>
              </a:rPr>
              <a:t>Illustrates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the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functionality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relationships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between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actors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use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cases.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400" b="1" spc="-35" dirty="0">
                <a:latin typeface="Arial"/>
                <a:cs typeface="Arial"/>
              </a:rPr>
              <a:t>User Stories </a:t>
            </a:r>
            <a:r>
              <a:rPr sz="1400" b="1" spc="-30" dirty="0">
                <a:latin typeface="Arial"/>
                <a:cs typeface="Arial"/>
              </a:rPr>
              <a:t>and</a:t>
            </a:r>
            <a:r>
              <a:rPr sz="1400" b="1" spc="-1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Epics:</a:t>
            </a:r>
            <a:endParaRPr sz="14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10" dirty="0">
                <a:latin typeface="Tahoma"/>
                <a:cs typeface="Tahoma"/>
              </a:rPr>
              <a:t>Detailed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descriptions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needs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system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features.</a:t>
            </a:r>
            <a:endParaRPr sz="1400">
              <a:latin typeface="Tahoma"/>
              <a:cs typeface="Tahom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5" dirty="0">
                <a:latin typeface="Tahoma"/>
                <a:cs typeface="Tahoma"/>
              </a:rPr>
              <a:t>Prioritized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backlog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items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based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on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business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value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user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impact.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400" b="1" spc="-25" dirty="0">
                <a:latin typeface="Arial"/>
                <a:cs typeface="Arial"/>
              </a:rPr>
              <a:t>Non-Functional</a:t>
            </a:r>
            <a:r>
              <a:rPr sz="1400" b="1" spc="-100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Requirements:</a:t>
            </a:r>
            <a:endParaRPr sz="14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5" dirty="0">
                <a:latin typeface="Tahoma"/>
                <a:cs typeface="Tahoma"/>
              </a:rPr>
              <a:t>Performance,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security,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usability,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other</a:t>
            </a:r>
            <a:r>
              <a:rPr sz="1400" spc="-1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quality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attributes</a:t>
            </a:r>
            <a:r>
              <a:rPr sz="1400" spc="-114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the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system.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400" b="1" spc="-40" dirty="0">
                <a:latin typeface="Arial"/>
                <a:cs typeface="Arial"/>
              </a:rPr>
              <a:t>System</a:t>
            </a:r>
            <a:r>
              <a:rPr sz="1400" b="1" spc="-105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Constraints:</a:t>
            </a:r>
            <a:endParaRPr sz="14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5" dirty="0">
                <a:latin typeface="Tahoma"/>
                <a:cs typeface="Tahoma"/>
              </a:rPr>
              <a:t>Technical,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operational,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environmental</a:t>
            </a:r>
            <a:r>
              <a:rPr sz="1400" spc="-16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constraints.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400" b="1" spc="-45" dirty="0">
                <a:latin typeface="Arial"/>
                <a:cs typeface="Arial"/>
              </a:rPr>
              <a:t>Glossary:</a:t>
            </a:r>
            <a:endParaRPr sz="14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5" dirty="0">
                <a:latin typeface="Tahoma"/>
                <a:cs typeface="Tahoma"/>
              </a:rPr>
              <a:t>Definitions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domain-specific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terms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acronyms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used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the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SRS.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400" b="1" spc="-40" dirty="0">
                <a:latin typeface="Arial"/>
                <a:cs typeface="Arial"/>
              </a:rPr>
              <a:t>Appendices:</a:t>
            </a:r>
            <a:endParaRPr sz="14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400" spc="-10" dirty="0">
                <a:latin typeface="Tahoma"/>
                <a:cs typeface="Tahoma"/>
              </a:rPr>
              <a:t>Supporting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documentation,</a:t>
            </a:r>
            <a:r>
              <a:rPr sz="1400" spc="-1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diagrams,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and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additional</a:t>
            </a:r>
            <a:r>
              <a:rPr sz="1400" spc="-1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details.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642092" y="0"/>
            <a:ext cx="1245107" cy="934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D7D4DE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595" y="981202"/>
            <a:ext cx="360807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125" dirty="0">
                <a:latin typeface="Arial"/>
                <a:cs typeface="Arial"/>
              </a:rPr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518159" y="507491"/>
            <a:ext cx="6126480" cy="149860"/>
          </a:xfrm>
          <a:custGeom>
            <a:avLst/>
            <a:gdLst/>
            <a:ahLst/>
            <a:cxnLst/>
            <a:rect l="l" t="t" r="r" b="b"/>
            <a:pathLst>
              <a:path w="6126480" h="149859">
                <a:moveTo>
                  <a:pt x="0" y="149351"/>
                </a:moveTo>
                <a:lnTo>
                  <a:pt x="6126479" y="149351"/>
                </a:lnTo>
                <a:lnTo>
                  <a:pt x="6126479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6595" y="2279141"/>
            <a:ext cx="5880735" cy="4192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20" dirty="0">
                <a:latin typeface="Tahoma"/>
                <a:cs typeface="Tahoma"/>
              </a:rPr>
              <a:t>A</a:t>
            </a:r>
            <a:r>
              <a:rPr sz="1600" spc="-22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Recap</a:t>
            </a:r>
            <a:endParaRPr sz="1600">
              <a:latin typeface="Tahoma"/>
              <a:cs typeface="Tahoma"/>
            </a:endParaRPr>
          </a:p>
          <a:p>
            <a:pPr marL="629920" marR="97155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-10" dirty="0">
                <a:latin typeface="Tahoma"/>
                <a:cs typeface="Tahoma"/>
              </a:rPr>
              <a:t>Agile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Requirements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Engineering</a:t>
            </a:r>
            <a:r>
              <a:rPr sz="1600" spc="-114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emphasizes</a:t>
            </a:r>
            <a:r>
              <a:rPr sz="1600" spc="-15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collaboration,  </a:t>
            </a:r>
            <a:r>
              <a:rPr sz="1600" spc="-20" dirty="0">
                <a:latin typeface="Tahoma"/>
                <a:cs typeface="Tahoma"/>
              </a:rPr>
              <a:t>iterative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development,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continuous</a:t>
            </a:r>
            <a:r>
              <a:rPr sz="1600" spc="-10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improvement.</a:t>
            </a:r>
            <a:endParaRPr sz="1600">
              <a:latin typeface="Tahoma"/>
              <a:cs typeface="Tahoma"/>
            </a:endParaRPr>
          </a:p>
          <a:p>
            <a:pPr marL="629920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-10" dirty="0">
                <a:latin typeface="Tahoma"/>
                <a:cs typeface="Tahoma"/>
              </a:rPr>
              <a:t>Agile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techniques</a:t>
            </a:r>
            <a:r>
              <a:rPr sz="1600" spc="-110" dirty="0">
                <a:latin typeface="Tahoma"/>
                <a:cs typeface="Tahoma"/>
              </a:rPr>
              <a:t> </a:t>
            </a:r>
            <a:r>
              <a:rPr sz="1600" spc="30" dirty="0">
                <a:latin typeface="Tahoma"/>
                <a:cs typeface="Tahoma"/>
              </a:rPr>
              <a:t>such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35" dirty="0">
                <a:latin typeface="Tahoma"/>
                <a:cs typeface="Tahoma"/>
              </a:rPr>
              <a:t>as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stories,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epics,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backlog</a:t>
            </a:r>
            <a:endParaRPr sz="1600">
              <a:latin typeface="Tahoma"/>
              <a:cs typeface="Tahoma"/>
            </a:endParaRPr>
          </a:p>
          <a:p>
            <a:pPr marL="629920">
              <a:lnSpc>
                <a:spcPct val="100000"/>
              </a:lnSpc>
            </a:pPr>
            <a:r>
              <a:rPr sz="1600" spc="-15" dirty="0">
                <a:latin typeface="Tahoma"/>
                <a:cs typeface="Tahoma"/>
              </a:rPr>
              <a:t>refinement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drive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development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process.</a:t>
            </a:r>
            <a:endParaRPr sz="1600">
              <a:latin typeface="Tahoma"/>
              <a:cs typeface="Tahoma"/>
            </a:endParaRPr>
          </a:p>
          <a:p>
            <a:pPr marL="629920" marR="706120" indent="-3429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30" dirty="0">
                <a:latin typeface="Tahoma"/>
                <a:cs typeface="Tahoma"/>
              </a:rPr>
              <a:t>Use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45" dirty="0">
                <a:latin typeface="Tahoma"/>
                <a:cs typeface="Tahoma"/>
              </a:rPr>
              <a:t>Case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Diagrams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the</a:t>
            </a:r>
            <a:r>
              <a:rPr sz="1600" spc="-14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Software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Requirements  </a:t>
            </a:r>
            <a:r>
              <a:rPr sz="1600" spc="15" dirty="0">
                <a:latin typeface="Tahoma"/>
                <a:cs typeface="Tahoma"/>
              </a:rPr>
              <a:t>Specification </a:t>
            </a:r>
            <a:r>
              <a:rPr sz="1600" spc="-60" dirty="0">
                <a:latin typeface="Tahoma"/>
                <a:cs typeface="Tahoma"/>
              </a:rPr>
              <a:t>(SRS) </a:t>
            </a:r>
            <a:r>
              <a:rPr sz="1600" dirty="0">
                <a:latin typeface="Tahoma"/>
                <a:cs typeface="Tahoma"/>
              </a:rPr>
              <a:t>capture </a:t>
            </a:r>
            <a:r>
              <a:rPr sz="1600" spc="-5" dirty="0">
                <a:latin typeface="Tahoma"/>
                <a:cs typeface="Tahoma"/>
              </a:rPr>
              <a:t>system </a:t>
            </a:r>
            <a:r>
              <a:rPr sz="1600" spc="-15" dirty="0">
                <a:latin typeface="Tahoma"/>
                <a:cs typeface="Tahoma"/>
              </a:rPr>
              <a:t>behavior </a:t>
            </a:r>
            <a:r>
              <a:rPr sz="1600" dirty="0">
                <a:latin typeface="Tahoma"/>
                <a:cs typeface="Tahoma"/>
              </a:rPr>
              <a:t>and  </a:t>
            </a:r>
            <a:r>
              <a:rPr sz="1600" spc="-10" dirty="0">
                <a:latin typeface="Tahoma"/>
                <a:cs typeface="Tahoma"/>
              </a:rPr>
              <a:t>requirements.</a:t>
            </a:r>
            <a:endParaRPr sz="1600">
              <a:latin typeface="Tahoma"/>
              <a:cs typeface="Tahoma"/>
            </a:endParaRPr>
          </a:p>
          <a:p>
            <a:pPr marL="629920" marR="32639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-50" dirty="0">
                <a:latin typeface="Tahoma"/>
                <a:cs typeface="Tahoma"/>
              </a:rPr>
              <a:t>Integrating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50" dirty="0">
                <a:latin typeface="Tahoma"/>
                <a:cs typeface="Tahoma"/>
              </a:rPr>
              <a:t>UI/UX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Design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enhances</a:t>
            </a:r>
            <a:r>
              <a:rPr sz="1600" spc="-1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satisfaction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  </a:t>
            </a:r>
            <a:r>
              <a:rPr sz="1600" spc="-10" dirty="0">
                <a:latin typeface="Tahoma"/>
                <a:cs typeface="Tahoma"/>
              </a:rPr>
              <a:t>overall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36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experience.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5" dirty="0">
                <a:latin typeface="Tahoma"/>
                <a:cs typeface="Tahoma"/>
              </a:rPr>
              <a:t>Remarks</a:t>
            </a:r>
            <a:endParaRPr sz="1600">
              <a:latin typeface="Tahoma"/>
              <a:cs typeface="Tahoma"/>
            </a:endParaRPr>
          </a:p>
          <a:p>
            <a:pPr marL="629920" marR="46355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-10" dirty="0">
                <a:latin typeface="Tahoma"/>
                <a:cs typeface="Tahoma"/>
              </a:rPr>
              <a:t>Agile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Requirements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Engineering</a:t>
            </a:r>
            <a:r>
              <a:rPr sz="1600" spc="-1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empowers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10" dirty="0">
                <a:latin typeface="Tahoma"/>
                <a:cs typeface="Tahoma"/>
              </a:rPr>
              <a:t>teams</a:t>
            </a:r>
            <a:r>
              <a:rPr sz="1600" spc="-17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-15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deliver  high-quality</a:t>
            </a:r>
            <a:r>
              <a:rPr sz="1600" spc="-14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software</a:t>
            </a:r>
            <a:r>
              <a:rPr sz="1600" spc="-16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that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meets</a:t>
            </a:r>
            <a:r>
              <a:rPr sz="1600" spc="-17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user</a:t>
            </a:r>
            <a:r>
              <a:rPr sz="1600" spc="-16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needs.</a:t>
            </a:r>
            <a:endParaRPr sz="1600">
              <a:latin typeface="Tahoma"/>
              <a:cs typeface="Tahoma"/>
            </a:endParaRPr>
          </a:p>
          <a:p>
            <a:pPr marL="629920" marR="508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629920" algn="l"/>
                <a:tab pos="630555" algn="l"/>
              </a:tabLst>
            </a:pPr>
            <a:r>
              <a:rPr sz="1600" spc="-40" dirty="0">
                <a:latin typeface="Tahoma"/>
                <a:cs typeface="Tahoma"/>
              </a:rPr>
              <a:t>By </a:t>
            </a:r>
            <a:r>
              <a:rPr sz="1600" spc="-10" dirty="0">
                <a:latin typeface="Tahoma"/>
                <a:cs typeface="Tahoma"/>
              </a:rPr>
              <a:t>embracing Agile </a:t>
            </a:r>
            <a:r>
              <a:rPr sz="1600" spc="15" dirty="0">
                <a:latin typeface="Tahoma"/>
                <a:cs typeface="Tahoma"/>
              </a:rPr>
              <a:t>principles </a:t>
            </a:r>
            <a:r>
              <a:rPr sz="1600" dirty="0">
                <a:latin typeface="Tahoma"/>
                <a:cs typeface="Tahoma"/>
              </a:rPr>
              <a:t>and </a:t>
            </a:r>
            <a:r>
              <a:rPr sz="1600" spc="10" dirty="0">
                <a:latin typeface="Tahoma"/>
                <a:cs typeface="Tahoma"/>
              </a:rPr>
              <a:t>practices, </a:t>
            </a:r>
            <a:r>
              <a:rPr sz="1600" spc="-15" dirty="0">
                <a:latin typeface="Tahoma"/>
                <a:cs typeface="Tahoma"/>
              </a:rPr>
              <a:t>organizations  </a:t>
            </a:r>
            <a:r>
              <a:rPr sz="1600" spc="25" dirty="0">
                <a:latin typeface="Tahoma"/>
                <a:cs typeface="Tahoma"/>
              </a:rPr>
              <a:t>can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foster</a:t>
            </a:r>
            <a:r>
              <a:rPr sz="1600" spc="-13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innovation,</a:t>
            </a:r>
            <a:r>
              <a:rPr sz="1600" spc="-7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efficiency,</a:t>
            </a:r>
            <a:r>
              <a:rPr sz="1600" spc="-1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and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customer</a:t>
            </a:r>
            <a:r>
              <a:rPr sz="1600" spc="-130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satisfaction.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86471" y="656844"/>
            <a:ext cx="4081272" cy="5532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2092" y="0"/>
            <a:ext cx="1245107" cy="830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1072</Words>
  <Application>Microsoft Office PowerPoint</Application>
  <PresentationFormat>Widescreen</PresentationFormat>
  <Paragraphs>154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Tahoma</vt:lpstr>
      <vt:lpstr>Times New Roman</vt:lpstr>
      <vt:lpstr>Office Theme</vt:lpstr>
      <vt:lpstr>Agile  Requirements  Engineering</vt:lpstr>
      <vt:lpstr>Revisiting Agile</vt:lpstr>
      <vt:lpstr>Agile Requirements  Engineering Overview</vt:lpstr>
      <vt:lpstr>Agile Requirements  Engineering Process</vt:lpstr>
      <vt:lpstr>User Stories</vt:lpstr>
      <vt:lpstr>User Stories Examples</vt:lpstr>
      <vt:lpstr>INVEST Criteria</vt:lpstr>
      <vt:lpstr>Epics and Themes</vt:lpstr>
      <vt:lpstr>Backlog Refineme</vt:lpstr>
      <vt:lpstr>PowerPoint Presentation</vt:lpstr>
      <vt:lpstr>Use Case Diagrams</vt:lpstr>
      <vt:lpstr>Creating Use Case  Diagrams for the Job Portal</vt:lpstr>
      <vt:lpstr>UI/UX Designing</vt:lpstr>
      <vt:lpstr>Integrating UI/UX Design  in Agile Requirements  Engineering</vt:lpstr>
      <vt:lpstr>Software Requirements  Specification (SRS)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Shameer Kunjumohamed</dc:creator>
  <cp:lastModifiedBy>KDN</cp:lastModifiedBy>
  <cp:revision>2</cp:revision>
  <dcterms:created xsi:type="dcterms:W3CDTF">2024-12-04T16:47:34Z</dcterms:created>
  <dcterms:modified xsi:type="dcterms:W3CDTF">2024-12-05T06:06:20Z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2024-12-04T00:00:00Z</vt:filetime>
  </property>
</Properties>
</file>